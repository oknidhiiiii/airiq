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IN" sz="1500" b="0" u="none" strike="noStrike">
                <a:solidFill>
                  <a:srgbClr val="1F2933"/>
                </a:solidFill>
                <a:uFillTx/>
                <a:latin typeface="Calibri"/>
              </a:rPr>
              <a:t>Reviews by star rating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Number of reviews</c:v>
                </c:pt>
              </c:strCache>
            </c:strRef>
          </c:tx>
          <c:spPr>
            <a:solidFill>
              <a:srgbClr val="2E4A7D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2E4A7D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2E4A7D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2E4A7D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2E4A7D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C77D1A"/>
              </a:solidFill>
              <a:ln w="0">
                <a:noFill/>
              </a:ln>
            </c:spPr>
          </c:dPt>
          <c:dLbls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1F2933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1F2933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1F2933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1F2933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#,##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1F2933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#,##0" sourceLinked="0"/>
            <c:txPr>
              <a:bodyPr wrap="square"/>
              <a:lstStyle/>
              <a:p>
                <a:pPr>
                  <a:defRPr sz="1300" b="0" u="none" strike="noStrike">
                    <a:solidFill>
                      <a:srgbClr val="1F2933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1 star</c:v>
                </c:pt>
                <c:pt idx="1">
                  <c:v>2 stars</c:v>
                </c:pt>
                <c:pt idx="2">
                  <c:v>3 stars</c:v>
                </c:pt>
                <c:pt idx="3">
                  <c:v>4 stars</c:v>
                </c:pt>
                <c:pt idx="4">
                  <c:v>5 stars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735</c:v>
                </c:pt>
                <c:pt idx="1">
                  <c:v>363</c:v>
                </c:pt>
                <c:pt idx="2">
                  <c:v>633</c:v>
                </c:pt>
                <c:pt idx="3">
                  <c:v>1536</c:v>
                </c:pt>
                <c:pt idx="4">
                  <c:v>6731</c:v>
                </c:pt>
              </c:numCache>
            </c:numRef>
          </c:val>
        </c:ser>
        <c:gapWidth val="50"/>
        <c:overlap val="0"/>
        <c:axId val="32163051"/>
        <c:axId val="49726134"/>
      </c:barChart>
      <c:catAx>
        <c:axId val="3216305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300" b="0" u="none" strike="noStrike">
                <a:solidFill>
                  <a:srgbClr val="1F2933"/>
                </a:solidFill>
                <a:uFillTx/>
                <a:latin typeface="Calibri"/>
              </a:defRPr>
            </a:pPr>
          </a:p>
        </c:txPr>
        <c:crossAx val="49726134"/>
        <c:crosses val="autoZero"/>
        <c:auto val="1"/>
        <c:lblAlgn val="ctr"/>
        <c:lblOffset val="100"/>
        <c:noMultiLvlLbl val="0"/>
      </c:catAx>
      <c:valAx>
        <c:axId val="49726134"/>
        <c:scaling>
          <c:orientation val="minMax"/>
          <c:max val="8000"/>
        </c:scaling>
        <c:delete val="0"/>
        <c:axPos val="l"/>
        <c:majorGridlines>
          <c:spPr>
            <a:ln w="9360">
              <a:solidFill>
                <a:srgbClr val="DDE2E9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lang="en-IN" sz="1200" b="0" u="none" strike="noStrike">
                    <a:solidFill>
                      <a:srgbClr val="5A6A84"/>
                    </a:solidFill>
                    <a:uFillTx/>
                    <a:latin typeface="Calibri"/>
                  </a:rPr>
                  <a:t>Number of reviews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#,##0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A6A84"/>
                </a:solidFill>
                <a:uFillTx/>
                <a:latin typeface="Calibri"/>
              </a:defRPr>
            </a:pPr>
          </a:p>
        </c:txPr>
        <c:crossAx val="32163051"/>
        <c:crosses val="autoZero"/>
        <c:crossBetween val="between"/>
        <c:majorUnit val="2000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58D5AE3-3322-4F69-B2F2-3A39E06EA6AB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 the project: a MapReduce job on Hadoop that counts how many reviews carry each star rating. The panel on the right previews the final result; the amber bar is the 5-star count.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984018F-0478-4A88-95AE-A68C6377029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Frame the problem in one breath: reviews are plentiful, manual summarising does not scale, so we use a distributed counting job.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B937762-8A8E-452A-9A3C-F7532446880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Five objectives map one-to-one to the pipeline stages. State the scope limit early: this is a frequency analysis, not fake-review detection.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E7BC783-46BC-4E4B-9803-AFC5B9B7B1A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Each tool has one job. Hadoop Streaming is the bridge that lets plain Python scripts act as the map and reduce functions.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DF62F2F-332B-422C-8F6D-B8BE382B7A3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left to right. Dark boxes are the computation; the grey bands show what hosts each part. Input and output both live in HDFS; YARN schedules the map and reduce tasks.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50F2680-FA1D-4167-9D07-91BAB8E7E7E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Describe the run in the order it happened. Commands shown are the ones used to inspect and export the output.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778368C-7295-43B7-8F22-31F6423D3C5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 the chart first, then the table. 5-star ratings dominate. The denominator is 9,998, the sum of the five displayed counts; see the validation slide for the difference from 10,000.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9599AA9-8663-43B8-BBA1-6C9CD03009F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Percentages are computed from the five displayed counts. The mean of 4.32 is derived: (1×735 + 2×363 + 3×633 + 4×1,536 + 5×6,731) ÷ 9,998. Emphasise the interpretation limit.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49D97C4-F96F-445C-9CC0-5C0BE34ABB0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 upfront: the job ran successfully, but the counters do not reconcile exactly with the displayed totals. The distribution is a reliable indication of the pattern, while exact counts should be confirmed from the full output file.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2A6D640-1C56-4CFD-8185-1CA0E6968D5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Conclude on the method: the pipeline works end to end. The first future-scope item ties back to the validation observations.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D3FF1FE-0E70-499F-91BB-223118428F7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Standard references for the MapReduce model, Hadoop, and the Streaming and HDFS documentation for the version used.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E20A285-56F6-4B33-B645-972F9EAA634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E8715D8-D72F-4575-9AA9-454F9C71182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40080" y="658440"/>
            <a:ext cx="10908360" cy="685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</a:t>
            </a: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Text 0"/>
          <p:cNvSpPr/>
          <p:nvPr/>
        </p:nvSpPr>
        <p:spPr>
          <a:xfrm>
            <a:off x="64008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Amazon Review Rating Analysis using Hadoop MapReduce   |   Ramdeobaba University, Nagpur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10634400" y="6400800"/>
            <a:ext cx="9140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5450E9-073F-417D-B20C-FB6473E9CFF5}" type="slidenum">
              <a: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22960" y="1965960"/>
            <a:ext cx="6766200" cy="173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IN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urse label"/>
          <p:cNvSpPr/>
          <p:nvPr/>
        </p:nvSpPr>
        <p:spPr>
          <a:xfrm>
            <a:off x="822960" y="10058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BIG DATA ANALYTICS  |  PROJECT PRESENTATION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 hasCustomPrompt="1"/>
          </p:nvPr>
        </p:nvSpPr>
        <p:spPr>
          <a:xfrm>
            <a:off x="822960" y="1965960"/>
            <a:ext cx="6766200" cy="173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AirIQ: Airbnb Price Intelligence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Subtitle"/>
          <p:cNvSpPr/>
          <p:nvPr/>
        </p:nvSpPr>
        <p:spPr>
          <a:xfrm>
            <a:off x="822960" y="379476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Multi-city rental price prediction &amp; spatial analytics using Apache Spark MLlib and Apache Cassandra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resenter details"/>
          <p:cNvSpPr/>
          <p:nvPr/>
        </p:nvSpPr>
        <p:spPr>
          <a:xfrm>
            <a:off x="822960" y="4892040"/>
            <a:ext cx="68576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Ramdeobaba University, Nagpur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Course: Big Data Analytics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Presented by: Aditya Raju Pidurkar-40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                      Nidhi Singh-15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Motif panel"/>
          <p:cNvSpPr/>
          <p:nvPr/>
        </p:nvSpPr>
        <p:spPr>
          <a:xfrm>
            <a:off x="8138160" y="914400"/>
            <a:ext cx="3428640" cy="5028840"/>
          </a:xfrm>
          <a:prstGeom prst="rect">
            <a:avLst/>
          </a:prstGeom>
          <a:solidFill>
            <a:srgbClr val="1D3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Motif caption"/>
          <p:cNvSpPr/>
          <p:nvPr/>
        </p:nvSpPr>
        <p:spPr>
          <a:xfrm>
            <a:off x="8366760" y="114300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MARKET COVERAGE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itle motif bar 1"/>
          <p:cNvSpPr/>
          <p:nvPr/>
        </p:nvSpPr>
        <p:spPr>
          <a:xfrm>
            <a:off x="8298360" y="4969800"/>
            <a:ext cx="475200" cy="379080"/>
          </a:xfrm>
          <a:prstGeom prst="rect">
            <a:avLst/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itle motif label 1"/>
          <p:cNvSpPr/>
          <p:nvPr/>
        </p:nvSpPr>
        <p:spPr>
          <a:xfrm>
            <a:off x="8206920" y="544068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London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itle motif bar 2"/>
          <p:cNvSpPr/>
          <p:nvPr/>
        </p:nvSpPr>
        <p:spPr>
          <a:xfrm>
            <a:off x="8956440" y="5161680"/>
            <a:ext cx="475200" cy="187200"/>
          </a:xfrm>
          <a:prstGeom prst="rect">
            <a:avLst/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itle motif label 2"/>
          <p:cNvSpPr/>
          <p:nvPr/>
        </p:nvSpPr>
        <p:spPr>
          <a:xfrm>
            <a:off x="8865000" y="544068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Paris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itle motif bar 3"/>
          <p:cNvSpPr/>
          <p:nvPr/>
        </p:nvSpPr>
        <p:spPr>
          <a:xfrm>
            <a:off x="9614880" y="5022360"/>
            <a:ext cx="475200" cy="326520"/>
          </a:xfrm>
          <a:prstGeom prst="rect">
            <a:avLst/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itle motif label 3"/>
          <p:cNvSpPr/>
          <p:nvPr/>
        </p:nvSpPr>
        <p:spPr>
          <a:xfrm>
            <a:off x="9523440" y="544068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Tokyo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itle motif bar 4"/>
          <p:cNvSpPr/>
          <p:nvPr/>
        </p:nvSpPr>
        <p:spPr>
          <a:xfrm>
            <a:off x="10273320" y="4556160"/>
            <a:ext cx="475200" cy="792720"/>
          </a:xfrm>
          <a:prstGeom prst="rect">
            <a:avLst/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itle motif label 4"/>
          <p:cNvSpPr/>
          <p:nvPr/>
        </p:nvSpPr>
        <p:spPr>
          <a:xfrm>
            <a:off x="10181880" y="544068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Mumbai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itle motif bar 5"/>
          <p:cNvSpPr/>
          <p:nvPr/>
        </p:nvSpPr>
        <p:spPr>
          <a:xfrm>
            <a:off x="10931760" y="1874520"/>
            <a:ext cx="475200" cy="34743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itle motif label 5"/>
          <p:cNvSpPr/>
          <p:nvPr/>
        </p:nvSpPr>
        <p:spPr>
          <a:xfrm>
            <a:off x="10840320" y="544068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Bengaluru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ection tag"/>
          <p:cNvSpPr/>
          <p:nvPr/>
        </p:nvSpPr>
        <p:spPr>
          <a:xfrm>
            <a:off x="640080" y="411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  INTRODUCTION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 hasCustomPrompt="1"/>
          </p:nvPr>
        </p:nvSpPr>
        <p:spPr>
          <a:xfrm>
            <a:off x="640080" y="658440"/>
            <a:ext cx="1090836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Problem statement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Card Background"/>
          <p:cNvSpPr/>
          <p:nvPr/>
        </p:nvSpPr>
        <p:spPr>
          <a:xfrm>
            <a:off x="640080" y="1691640"/>
            <a:ext cx="3447000" cy="434304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Icon Background circle"/>
          <p:cNvSpPr/>
          <p:nvPr/>
        </p:nvSpPr>
        <p:spPr>
          <a:xfrm>
            <a:off x="960120" y="2011680"/>
            <a:ext cx="776880" cy="77688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" name="Icon Background" descr="Icon Background"/>
          <p:cNvPicPr/>
          <p:nvPr/>
        </p:nvPicPr>
        <p:blipFill>
          <a:blip r:embed="rId1"/>
          <a:stretch/>
        </p:blipFill>
        <p:spPr>
          <a:xfrm>
            <a:off x="1170000" y="2221560"/>
            <a:ext cx="35712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Heading Background"/>
          <p:cNvSpPr/>
          <p:nvPr/>
        </p:nvSpPr>
        <p:spPr>
          <a:xfrm>
            <a:off x="960120" y="301752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Background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Background"/>
          <p:cNvSpPr/>
          <p:nvPr/>
        </p:nvSpPr>
        <p:spPr>
          <a:xfrm>
            <a:off x="960120" y="3611880"/>
            <a:ext cx="28069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Short-term rental platforms such as Airbnb accumulate hundreds of thousands of listings with volatile, hyper-local nightly rates.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Card Problem"/>
          <p:cNvSpPr/>
          <p:nvPr/>
        </p:nvSpPr>
        <p:spPr>
          <a:xfrm>
            <a:off x="4361760" y="1691640"/>
            <a:ext cx="3447000" cy="434304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Icon Problem circle"/>
          <p:cNvSpPr/>
          <p:nvPr/>
        </p:nvSpPr>
        <p:spPr>
          <a:xfrm>
            <a:off x="4681800" y="2011680"/>
            <a:ext cx="776880" cy="77688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" name="Icon Problem" descr="Icon Problem"/>
          <p:cNvPicPr/>
          <p:nvPr/>
        </p:nvPicPr>
        <p:blipFill>
          <a:blip r:embed="rId2"/>
          <a:stretch/>
        </p:blipFill>
        <p:spPr>
          <a:xfrm>
            <a:off x="4891680" y="2221560"/>
            <a:ext cx="35712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Heading Problem"/>
          <p:cNvSpPr/>
          <p:nvPr/>
        </p:nvSpPr>
        <p:spPr>
          <a:xfrm>
            <a:off x="4681800" y="301752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Problem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Problem"/>
          <p:cNvSpPr/>
          <p:nvPr/>
        </p:nvSpPr>
        <p:spPr>
          <a:xfrm>
            <a:off x="4681800" y="3611880"/>
            <a:ext cx="28069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Setting fair prices manually causes empty rooms or lost revenue, single-machine tools crash on 200,000+ spatial rows, and official portals cover 0 Indian cities.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Card Approach"/>
          <p:cNvSpPr/>
          <p:nvPr/>
        </p:nvSpPr>
        <p:spPr>
          <a:xfrm>
            <a:off x="8083440" y="1691640"/>
            <a:ext cx="3447000" cy="434304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Icon Approach circle"/>
          <p:cNvSpPr/>
          <p:nvPr/>
        </p:nvSpPr>
        <p:spPr>
          <a:xfrm>
            <a:off x="8403480" y="2011680"/>
            <a:ext cx="776880" cy="77688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con Approach" descr="Icon Approach"/>
          <p:cNvPicPr/>
          <p:nvPr/>
        </p:nvPicPr>
        <p:blipFill>
          <a:blip r:embed="rId3"/>
          <a:stretch/>
        </p:blipFill>
        <p:spPr>
          <a:xfrm>
            <a:off x="8613360" y="2221560"/>
            <a:ext cx="35712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Heading Approach"/>
          <p:cNvSpPr/>
          <p:nvPr/>
        </p:nvSpPr>
        <p:spPr>
          <a:xfrm>
            <a:off x="8403480" y="301752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Approach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Approach"/>
          <p:cNvSpPr/>
          <p:nvPr/>
        </p:nvSpPr>
        <p:spPr>
          <a:xfrm>
            <a:off x="8403480" y="3611880"/>
            <a:ext cx="28069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Apache Spark MLlib and Cassandra to process 224,098 listings in parallel, predicting fair rates in native local currencies (₹, ¥, £, €).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5"/>
          </p:nvPr>
        </p:nvSpPr>
        <p:spPr>
          <a:xfrm>
            <a:off x="10634400" y="6400800"/>
            <a:ext cx="9140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2DE6DA-673C-4E85-A879-149B411CC893}" type="slidenum">
              <a: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ection tag"/>
          <p:cNvSpPr/>
          <p:nvPr/>
        </p:nvSpPr>
        <p:spPr>
          <a:xfrm>
            <a:off x="640080" y="411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  INTRODUCTION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 hasCustomPrompt="1"/>
          </p:nvPr>
        </p:nvSpPr>
        <p:spPr>
          <a:xfrm>
            <a:off x="640080" y="658440"/>
            <a:ext cx="1090836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Objectives and scope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Objective card 1"/>
          <p:cNvSpPr/>
          <p:nvPr/>
        </p:nvSpPr>
        <p:spPr>
          <a:xfrm>
            <a:off x="640080" y="1691640"/>
            <a:ext cx="6766200" cy="7311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Objective circle 1"/>
          <p:cNvSpPr/>
          <p:nvPr/>
        </p:nvSpPr>
        <p:spPr>
          <a:xfrm>
            <a:off x="822960" y="1819800"/>
            <a:ext cx="475200" cy="47520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Objective number 1"/>
          <p:cNvSpPr/>
          <p:nvPr/>
        </p:nvSpPr>
        <p:spPr>
          <a:xfrm>
            <a:off x="822960" y="18198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Objective 1"/>
          <p:cNvSpPr/>
          <p:nvPr/>
        </p:nvSpPr>
        <p:spPr>
          <a:xfrm>
            <a:off x="1508760" y="1691640"/>
            <a:ext cx="5760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Ingest 224,098 listings across 7 global hubs and 2 real Indian metros (Mumbai, Bengaluru).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Objective card 2"/>
          <p:cNvSpPr/>
          <p:nvPr/>
        </p:nvSpPr>
        <p:spPr>
          <a:xfrm>
            <a:off x="640080" y="2578680"/>
            <a:ext cx="6766200" cy="7311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Objective circle 2"/>
          <p:cNvSpPr/>
          <p:nvPr/>
        </p:nvSpPr>
        <p:spPr>
          <a:xfrm>
            <a:off x="822960" y="2706480"/>
            <a:ext cx="475200" cy="47520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Objective number 2"/>
          <p:cNvSpPr/>
          <p:nvPr/>
        </p:nvSpPr>
        <p:spPr>
          <a:xfrm>
            <a:off x="822960" y="27064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Objective 2"/>
          <p:cNvSpPr/>
          <p:nvPr/>
        </p:nvSpPr>
        <p:spPr>
          <a:xfrm>
            <a:off x="1508760" y="2578680"/>
            <a:ext cx="5760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Clean currency symbols and standardize a USD baseline for homoscedastic regression.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Objective card 3"/>
          <p:cNvSpPr/>
          <p:nvPr/>
        </p:nvSpPr>
        <p:spPr>
          <a:xfrm>
            <a:off x="640080" y="3465720"/>
            <a:ext cx="6766200" cy="7311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Objective circle 3"/>
          <p:cNvSpPr/>
          <p:nvPr/>
        </p:nvSpPr>
        <p:spPr>
          <a:xfrm>
            <a:off x="822960" y="3593520"/>
            <a:ext cx="475200" cy="47520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Objective number 3"/>
          <p:cNvSpPr/>
          <p:nvPr/>
        </p:nvSpPr>
        <p:spPr>
          <a:xfrm>
            <a:off x="822960" y="35935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Objective 3"/>
          <p:cNvSpPr/>
          <p:nvPr/>
        </p:nvSpPr>
        <p:spPr>
          <a:xfrm>
            <a:off x="1508760" y="3465720"/>
            <a:ext cx="5760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Train a 45-tree PySpark MLlib Random Forest Regressor across 6 core physical features.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Objective card 4"/>
          <p:cNvSpPr/>
          <p:nvPr/>
        </p:nvSpPr>
        <p:spPr>
          <a:xfrm>
            <a:off x="640080" y="4352400"/>
            <a:ext cx="6766200" cy="7311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Objective circle 4"/>
          <p:cNvSpPr/>
          <p:nvPr/>
        </p:nvSpPr>
        <p:spPr>
          <a:xfrm>
            <a:off x="822960" y="4480560"/>
            <a:ext cx="475200" cy="47520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Objective number 4"/>
          <p:cNvSpPr/>
          <p:nvPr/>
        </p:nvSpPr>
        <p:spPr>
          <a:xfrm>
            <a:off x="822960" y="448056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4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Objective 4"/>
          <p:cNvSpPr/>
          <p:nvPr/>
        </p:nvSpPr>
        <p:spPr>
          <a:xfrm>
            <a:off x="1508760" y="4352400"/>
            <a:ext cx="5760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Store partitioned spatial records and macro statistics in Apache Cassandra (port 9042).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Objective card 5"/>
          <p:cNvSpPr/>
          <p:nvPr/>
        </p:nvSpPr>
        <p:spPr>
          <a:xfrm>
            <a:off x="640080" y="5239440"/>
            <a:ext cx="6766200" cy="7311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Objective circle 5"/>
          <p:cNvSpPr/>
          <p:nvPr/>
        </p:nvSpPr>
        <p:spPr>
          <a:xfrm>
            <a:off x="822960" y="5367600"/>
            <a:ext cx="475200" cy="47520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Objective number 5"/>
          <p:cNvSpPr/>
          <p:nvPr/>
        </p:nvSpPr>
        <p:spPr>
          <a:xfrm>
            <a:off x="822960" y="53676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5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Objective 5"/>
          <p:cNvSpPr/>
          <p:nvPr/>
        </p:nvSpPr>
        <p:spPr>
          <a:xfrm>
            <a:off x="1508760" y="5239440"/>
            <a:ext cx="5760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 interactive price predictions and zero-lag Leaflet marker clustering in native currencies.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cope card 1"/>
          <p:cNvSpPr/>
          <p:nvPr/>
        </p:nvSpPr>
        <p:spPr>
          <a:xfrm>
            <a:off x="7652520" y="1771560"/>
            <a:ext cx="3867480" cy="182844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cope icon 1 circle"/>
          <p:cNvSpPr/>
          <p:nvPr/>
        </p:nvSpPr>
        <p:spPr>
          <a:xfrm>
            <a:off x="7909560" y="1892880"/>
            <a:ext cx="456840" cy="456840"/>
          </a:xfrm>
          <a:prstGeom prst="ellipse">
            <a:avLst/>
          </a:prstGeom>
          <a:solidFill>
            <a:srgbClr val="2E7D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" name="Scope icon 1" descr="Scope icon 1"/>
          <p:cNvPicPr/>
          <p:nvPr/>
        </p:nvPicPr>
        <p:blipFill>
          <a:blip r:embed="rId1"/>
          <a:stretch/>
        </p:blipFill>
        <p:spPr>
          <a:xfrm>
            <a:off x="8033040" y="201636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Scope heading 1"/>
          <p:cNvSpPr/>
          <p:nvPr/>
        </p:nvSpPr>
        <p:spPr>
          <a:xfrm>
            <a:off x="8549640" y="189288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Within scope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cope list 1"/>
          <p:cNvSpPr/>
          <p:nvPr/>
        </p:nvSpPr>
        <p:spPr>
          <a:xfrm>
            <a:off x="7909560" y="2514600"/>
            <a:ext cx="3474360" cy="21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F2933"/>
              </a:buClr>
              <a:buFont typeface="Symbol" charset="2"/>
              <a:buChar char=""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Multi-market pricing in native local currencies (₹, ¥, £, €)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F2933"/>
              </a:buClr>
              <a:buFont typeface="Symbol" charset="2"/>
              <a:buChar char=""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Interactive marker clustering without browser DOM lag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Sub-millisecond NoSQL reads via partitioned Cassandra keys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6"/>
          </p:nvPr>
        </p:nvSpPr>
        <p:spPr>
          <a:xfrm>
            <a:off x="10634400" y="6400800"/>
            <a:ext cx="9140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3D2688-7198-414F-AD9E-BC9303D72DE4}" type="slidenum">
              <a: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ection tag"/>
          <p:cNvSpPr/>
          <p:nvPr/>
        </p:nvSpPr>
        <p:spPr>
          <a:xfrm>
            <a:off x="640080" y="411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02  METHODOLOGY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 hasCustomPrompt="1"/>
          </p:nvPr>
        </p:nvSpPr>
        <p:spPr>
          <a:xfrm>
            <a:off x="640080" y="658440"/>
            <a:ext cx="1090836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Technology stack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Card Apache Hadoop 3.2.4"/>
          <p:cNvSpPr/>
          <p:nvPr/>
        </p:nvSpPr>
        <p:spPr>
          <a:xfrm>
            <a:off x="640080" y="1691640"/>
            <a:ext cx="3447000" cy="20113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Icon Apache Hadoop 3.2.4 circle"/>
          <p:cNvSpPr/>
          <p:nvPr/>
        </p:nvSpPr>
        <p:spPr>
          <a:xfrm>
            <a:off x="914400" y="1947600"/>
            <a:ext cx="566640" cy="56664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" name="Icon Apache Hadoop 3.2.4" descr="Icon Apache Hadoop 3.2.4"/>
          <p:cNvPicPr/>
          <p:nvPr/>
        </p:nvPicPr>
        <p:blipFill>
          <a:blip r:embed="rId1"/>
          <a:stretch/>
        </p:blipFill>
        <p:spPr>
          <a:xfrm>
            <a:off x="1067400" y="2100600"/>
            <a:ext cx="260280" cy="2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Name Apache Hadoop 3.2.4"/>
          <p:cNvSpPr/>
          <p:nvPr/>
        </p:nvSpPr>
        <p:spPr>
          <a:xfrm>
            <a:off x="1645920" y="194760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Apache Spark 4.2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le Apache Hadoop 3.2.4"/>
          <p:cNvSpPr/>
          <p:nvPr/>
        </p:nvSpPr>
        <p:spPr>
          <a:xfrm>
            <a:off x="914400" y="2697480"/>
            <a:ext cx="292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Distributed in-memory compute engine for parallel DataFrame transformations and MLlib regression.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Card HDFS"/>
          <p:cNvSpPr/>
          <p:nvPr/>
        </p:nvSpPr>
        <p:spPr>
          <a:xfrm>
            <a:off x="4361760" y="1691640"/>
            <a:ext cx="3447000" cy="20113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Icon HDFS circle"/>
          <p:cNvSpPr/>
          <p:nvPr/>
        </p:nvSpPr>
        <p:spPr>
          <a:xfrm>
            <a:off x="4636080" y="1947600"/>
            <a:ext cx="566640" cy="56664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" name="Icon HDFS" descr="Icon HDFS"/>
          <p:cNvPicPr/>
          <p:nvPr/>
        </p:nvPicPr>
        <p:blipFill>
          <a:blip r:embed="rId2"/>
          <a:stretch/>
        </p:blipFill>
        <p:spPr>
          <a:xfrm>
            <a:off x="4789080" y="2100600"/>
            <a:ext cx="260280" cy="2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Name HDFS"/>
          <p:cNvSpPr/>
          <p:nvPr/>
        </p:nvSpPr>
        <p:spPr>
          <a:xfrm>
            <a:off x="5367600" y="194760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Apache Cassandra 4.1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le HDFS"/>
          <p:cNvSpPr/>
          <p:nvPr/>
        </p:nvSpPr>
        <p:spPr>
          <a:xfrm>
            <a:off x="4636080" y="2697480"/>
            <a:ext cx="292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Distributed masterless NoSQL database providing sub-millisecond queries via partitioned keyspaces.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Card MapReduce"/>
          <p:cNvSpPr/>
          <p:nvPr/>
        </p:nvSpPr>
        <p:spPr>
          <a:xfrm>
            <a:off x="8083440" y="1691640"/>
            <a:ext cx="3447000" cy="20113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Icon MapReduce circle"/>
          <p:cNvSpPr/>
          <p:nvPr/>
        </p:nvSpPr>
        <p:spPr>
          <a:xfrm>
            <a:off x="8357760" y="1947600"/>
            <a:ext cx="566640" cy="56664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Icon MapReduce" descr="Icon MapReduce"/>
          <p:cNvPicPr/>
          <p:nvPr/>
        </p:nvPicPr>
        <p:blipFill>
          <a:blip r:embed="rId3"/>
          <a:stretch/>
        </p:blipFill>
        <p:spPr>
          <a:xfrm>
            <a:off x="8510760" y="2100600"/>
            <a:ext cx="260280" cy="2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Name MapReduce"/>
          <p:cNvSpPr/>
          <p:nvPr/>
        </p:nvSpPr>
        <p:spPr>
          <a:xfrm>
            <a:off x="9089280" y="194760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PySpark MLlib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le MapReduce"/>
          <p:cNvSpPr/>
          <p:nvPr/>
        </p:nvSpPr>
        <p:spPr>
          <a:xfrm>
            <a:off x="8357760" y="2697480"/>
            <a:ext cx="292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Parallel Random Forest regressor with VectorAssembler trained on 224,098 listings.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Card Hadoop Streaming"/>
          <p:cNvSpPr/>
          <p:nvPr/>
        </p:nvSpPr>
        <p:spPr>
          <a:xfrm>
            <a:off x="640080" y="3886200"/>
            <a:ext cx="3447000" cy="20113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Icon Hadoop Streaming circle"/>
          <p:cNvSpPr/>
          <p:nvPr/>
        </p:nvSpPr>
        <p:spPr>
          <a:xfrm>
            <a:off x="914400" y="4142160"/>
            <a:ext cx="566640" cy="56664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" name="Icon Hadoop Streaming" descr="Icon Hadoop Streaming"/>
          <p:cNvPicPr/>
          <p:nvPr/>
        </p:nvPicPr>
        <p:blipFill>
          <a:blip r:embed="rId4"/>
          <a:stretch/>
        </p:blipFill>
        <p:spPr>
          <a:xfrm>
            <a:off x="1067400" y="4295160"/>
            <a:ext cx="260280" cy="2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Name Hadoop Streaming"/>
          <p:cNvSpPr/>
          <p:nvPr/>
        </p:nvSpPr>
        <p:spPr>
          <a:xfrm>
            <a:off x="1645920" y="414216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FastAPI (Python)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le Hadoop Streaming"/>
          <p:cNvSpPr/>
          <p:nvPr/>
        </p:nvSpPr>
        <p:spPr>
          <a:xfrm>
            <a:off x="914400" y="4892040"/>
            <a:ext cx="292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Asynchronous ASGI microservice on port 8001 executing in-memory Spark tree traversal in &lt; 15ms.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Card YARN"/>
          <p:cNvSpPr/>
          <p:nvPr/>
        </p:nvSpPr>
        <p:spPr>
          <a:xfrm>
            <a:off x="4361760" y="3886200"/>
            <a:ext cx="3447000" cy="20113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Icon YARN circle"/>
          <p:cNvSpPr/>
          <p:nvPr/>
        </p:nvSpPr>
        <p:spPr>
          <a:xfrm>
            <a:off x="4636080" y="4142160"/>
            <a:ext cx="566640" cy="56664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" name="Icon YARN" descr="Icon YARN"/>
          <p:cNvPicPr/>
          <p:nvPr/>
        </p:nvPicPr>
        <p:blipFill>
          <a:blip r:embed="rId5"/>
          <a:stretch/>
        </p:blipFill>
        <p:spPr>
          <a:xfrm>
            <a:off x="4789080" y="4295160"/>
            <a:ext cx="260280" cy="2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Name YARN"/>
          <p:cNvSpPr/>
          <p:nvPr/>
        </p:nvSpPr>
        <p:spPr>
          <a:xfrm>
            <a:off x="5367600" y="414216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React 19 + Vite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le YARN"/>
          <p:cNvSpPr/>
          <p:nvPr/>
        </p:nvSpPr>
        <p:spPr>
          <a:xfrm>
            <a:off x="4636080" y="4892040"/>
            <a:ext cx="292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Modern reactive frontend with React-Leaflet and Leaflet MarkerCluster for zero DOM lag.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Card Python"/>
          <p:cNvSpPr/>
          <p:nvPr/>
        </p:nvSpPr>
        <p:spPr>
          <a:xfrm>
            <a:off x="8083440" y="3886200"/>
            <a:ext cx="3447000" cy="20113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Icon Python circle"/>
          <p:cNvSpPr/>
          <p:nvPr/>
        </p:nvSpPr>
        <p:spPr>
          <a:xfrm>
            <a:off x="8357760" y="4142160"/>
            <a:ext cx="566640" cy="56664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" name="Icon Python" descr="Icon Python"/>
          <p:cNvPicPr/>
          <p:nvPr/>
        </p:nvPicPr>
        <p:blipFill>
          <a:blip r:embed="rId6"/>
          <a:stretch/>
        </p:blipFill>
        <p:spPr>
          <a:xfrm>
            <a:off x="8510760" y="4295160"/>
            <a:ext cx="260280" cy="2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Name Python"/>
          <p:cNvSpPr/>
          <p:nvPr/>
        </p:nvSpPr>
        <p:spPr>
          <a:xfrm>
            <a:off x="9089280" y="414216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 3.14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ole Python"/>
          <p:cNvSpPr/>
          <p:nvPr/>
        </p:nvSpPr>
        <p:spPr>
          <a:xfrm>
            <a:off x="8357760" y="4892040"/>
            <a:ext cx="292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Core programming language powering data pipelines, CQL drivers, and automated evaluation.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ldNum" idx="7"/>
          </p:nvPr>
        </p:nvSpPr>
        <p:spPr>
          <a:xfrm>
            <a:off x="10634400" y="6400800"/>
            <a:ext cx="9140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35C4BA-FD40-4597-A690-F7A575F8F17A}" type="slidenum">
              <a: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ection tag"/>
          <p:cNvSpPr/>
          <p:nvPr/>
        </p:nvSpPr>
        <p:spPr>
          <a:xfrm>
            <a:off x="640080" y="411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02  METHODOLOGY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 hasCustomPrompt="1"/>
          </p:nvPr>
        </p:nvSpPr>
        <p:spPr>
          <a:xfrm>
            <a:off x="640080" y="658440"/>
            <a:ext cx="1090836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System architecture and workflow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Stage 1"/>
          <p:cNvSpPr/>
          <p:nvPr/>
        </p:nvSpPr>
        <p:spPr>
          <a:xfrm>
            <a:off x="640080" y="1691640"/>
            <a:ext cx="1554120" cy="196560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tage icon 1 circle"/>
          <p:cNvSpPr/>
          <p:nvPr/>
        </p:nvSpPr>
        <p:spPr>
          <a:xfrm>
            <a:off x="1143000" y="1920240"/>
            <a:ext cx="548280" cy="54828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3" name="Stage icon 1" descr="Stage icon 1"/>
          <p:cNvPicPr/>
          <p:nvPr/>
        </p:nvPicPr>
        <p:blipFill>
          <a:blip r:embed="rId1"/>
          <a:stretch/>
        </p:blipFill>
        <p:spPr>
          <a:xfrm>
            <a:off x="1290960" y="2068200"/>
            <a:ext cx="252000" cy="25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Stage 1 name"/>
          <p:cNvSpPr/>
          <p:nvPr/>
        </p:nvSpPr>
        <p:spPr>
          <a:xfrm>
            <a:off x="713160" y="2606040"/>
            <a:ext cx="1407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Raw Datasets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tage 1 detail"/>
          <p:cNvSpPr/>
          <p:nvPr/>
        </p:nvSpPr>
        <p:spPr>
          <a:xfrm>
            <a:off x="713160" y="3063240"/>
            <a:ext cx="140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224,098 listings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Arrow 1"/>
          <p:cNvSpPr/>
          <p:nvPr/>
        </p:nvSpPr>
        <p:spPr>
          <a:xfrm>
            <a:off x="2221920" y="2674440"/>
            <a:ext cx="261360" cy="360"/>
          </a:xfrm>
          <a:prstGeom prst="line">
            <a:avLst/>
          </a:prstGeom>
          <a:ln w="25400">
            <a:solidFill>
              <a:srgbClr val="C77D1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tage 2"/>
          <p:cNvSpPr/>
          <p:nvPr/>
        </p:nvSpPr>
        <p:spPr>
          <a:xfrm>
            <a:off x="2511000" y="1691640"/>
            <a:ext cx="1554120" cy="196560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tage icon 2 circle"/>
          <p:cNvSpPr/>
          <p:nvPr/>
        </p:nvSpPr>
        <p:spPr>
          <a:xfrm>
            <a:off x="3013920" y="1920240"/>
            <a:ext cx="548280" cy="54828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" name="Stage icon 2" descr="Stage icon 2"/>
          <p:cNvPicPr/>
          <p:nvPr/>
        </p:nvPicPr>
        <p:blipFill>
          <a:blip r:embed="rId2"/>
          <a:stretch/>
        </p:blipFill>
        <p:spPr>
          <a:xfrm>
            <a:off x="3161880" y="2068200"/>
            <a:ext cx="252000" cy="25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Stage 2 name"/>
          <p:cNvSpPr/>
          <p:nvPr/>
        </p:nvSpPr>
        <p:spPr>
          <a:xfrm>
            <a:off x="2584080" y="2606040"/>
            <a:ext cx="1407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PySpark ETL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tage 2 detail"/>
          <p:cNvSpPr/>
          <p:nvPr/>
        </p:nvSpPr>
        <p:spPr>
          <a:xfrm>
            <a:off x="2584080" y="3063240"/>
            <a:ext cx="140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Clean &amp; normalize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Arrow 2"/>
          <p:cNvSpPr/>
          <p:nvPr/>
        </p:nvSpPr>
        <p:spPr>
          <a:xfrm>
            <a:off x="4092840" y="2674440"/>
            <a:ext cx="261360" cy="360"/>
          </a:xfrm>
          <a:prstGeom prst="line">
            <a:avLst/>
          </a:prstGeom>
          <a:ln w="25400">
            <a:solidFill>
              <a:srgbClr val="C77D1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tage 3"/>
          <p:cNvSpPr/>
          <p:nvPr/>
        </p:nvSpPr>
        <p:spPr>
          <a:xfrm>
            <a:off x="4381920" y="1691640"/>
            <a:ext cx="1554120" cy="1965600"/>
          </a:xfrm>
          <a:prstGeom prst="rect">
            <a:avLst/>
          </a:prstGeom>
          <a:solidFill>
            <a:schemeClr val="tx2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tage icon 3 circle"/>
          <p:cNvSpPr/>
          <p:nvPr/>
        </p:nvSpPr>
        <p:spPr>
          <a:xfrm>
            <a:off x="4884840" y="192024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Stage icon 3" descr="Stage icon 3"/>
          <p:cNvPicPr/>
          <p:nvPr/>
        </p:nvPicPr>
        <p:blipFill>
          <a:blip r:embed="rId3"/>
          <a:stretch/>
        </p:blipFill>
        <p:spPr>
          <a:xfrm>
            <a:off x="5032800" y="2068200"/>
            <a:ext cx="252000" cy="25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Stage 3 name"/>
          <p:cNvSpPr/>
          <p:nvPr/>
        </p:nvSpPr>
        <p:spPr>
          <a:xfrm>
            <a:off x="4455000" y="2606040"/>
            <a:ext cx="1407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MLlib Pipeline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tage 3 detail"/>
          <p:cNvSpPr/>
          <p:nvPr/>
        </p:nvSpPr>
        <p:spPr>
          <a:xfrm>
            <a:off x="4455000" y="3063240"/>
            <a:ext cx="140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Random Forest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Arrow 3"/>
          <p:cNvSpPr/>
          <p:nvPr/>
        </p:nvSpPr>
        <p:spPr>
          <a:xfrm>
            <a:off x="5963400" y="2674440"/>
            <a:ext cx="261720" cy="360"/>
          </a:xfrm>
          <a:prstGeom prst="line">
            <a:avLst/>
          </a:prstGeom>
          <a:ln w="25400">
            <a:solidFill>
              <a:srgbClr val="C77D1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tage 4"/>
          <p:cNvSpPr/>
          <p:nvPr/>
        </p:nvSpPr>
        <p:spPr>
          <a:xfrm>
            <a:off x="6252840" y="1691640"/>
            <a:ext cx="1554120" cy="1965600"/>
          </a:xfrm>
          <a:prstGeom prst="rect">
            <a:avLst/>
          </a:prstGeom>
          <a:solidFill>
            <a:schemeClr val="tx2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tage icon 4 circle"/>
          <p:cNvSpPr/>
          <p:nvPr/>
        </p:nvSpPr>
        <p:spPr>
          <a:xfrm>
            <a:off x="6755760" y="192024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Stage icon 4" descr="Stage icon 4"/>
          <p:cNvPicPr/>
          <p:nvPr/>
        </p:nvPicPr>
        <p:blipFill>
          <a:blip r:embed="rId4"/>
          <a:stretch/>
        </p:blipFill>
        <p:spPr>
          <a:xfrm>
            <a:off x="6903720" y="2068200"/>
            <a:ext cx="252000" cy="25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Stage 4 name"/>
          <p:cNvSpPr/>
          <p:nvPr/>
        </p:nvSpPr>
        <p:spPr>
          <a:xfrm>
            <a:off x="6325920" y="2606040"/>
            <a:ext cx="1407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Cassandra Sink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tage 4 detail"/>
          <p:cNvSpPr/>
          <p:nvPr/>
        </p:nvSpPr>
        <p:spPr>
          <a:xfrm>
            <a:off x="6325920" y="3063240"/>
            <a:ext cx="140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NoSQL partitions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Arrow 4"/>
          <p:cNvSpPr/>
          <p:nvPr/>
        </p:nvSpPr>
        <p:spPr>
          <a:xfrm>
            <a:off x="7834320" y="2674440"/>
            <a:ext cx="261720" cy="360"/>
          </a:xfrm>
          <a:prstGeom prst="line">
            <a:avLst/>
          </a:prstGeom>
          <a:ln w="25400">
            <a:solidFill>
              <a:srgbClr val="C77D1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tage 5"/>
          <p:cNvSpPr/>
          <p:nvPr/>
        </p:nvSpPr>
        <p:spPr>
          <a:xfrm>
            <a:off x="8123400" y="1691640"/>
            <a:ext cx="1554120" cy="1965600"/>
          </a:xfrm>
          <a:prstGeom prst="rect">
            <a:avLst/>
          </a:prstGeom>
          <a:solidFill>
            <a:schemeClr val="tx2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tage icon 5 circle"/>
          <p:cNvSpPr/>
          <p:nvPr/>
        </p:nvSpPr>
        <p:spPr>
          <a:xfrm>
            <a:off x="8626320" y="192024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" name="Stage icon 5" descr="Stage icon 5"/>
          <p:cNvPicPr/>
          <p:nvPr/>
        </p:nvPicPr>
        <p:blipFill>
          <a:blip r:embed="rId5"/>
          <a:stretch/>
        </p:blipFill>
        <p:spPr>
          <a:xfrm>
            <a:off x="8774640" y="2068200"/>
            <a:ext cx="252000" cy="25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Stage 5 name"/>
          <p:cNvSpPr/>
          <p:nvPr/>
        </p:nvSpPr>
        <p:spPr>
          <a:xfrm>
            <a:off x="8196840" y="2606040"/>
            <a:ext cx="1407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FastAPI Engine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tage 5 detail"/>
          <p:cNvSpPr/>
          <p:nvPr/>
        </p:nvSpPr>
        <p:spPr>
          <a:xfrm>
            <a:off x="8196840" y="3063240"/>
            <a:ext cx="140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In-memory trees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Arrow 5"/>
          <p:cNvSpPr/>
          <p:nvPr/>
        </p:nvSpPr>
        <p:spPr>
          <a:xfrm>
            <a:off x="9705240" y="2674440"/>
            <a:ext cx="261720" cy="360"/>
          </a:xfrm>
          <a:prstGeom prst="line">
            <a:avLst/>
          </a:prstGeom>
          <a:ln w="25400">
            <a:solidFill>
              <a:srgbClr val="C77D1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tage 6"/>
          <p:cNvSpPr/>
          <p:nvPr/>
        </p:nvSpPr>
        <p:spPr>
          <a:xfrm>
            <a:off x="9994320" y="1691640"/>
            <a:ext cx="1554120" cy="196560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tage icon 6 circle"/>
          <p:cNvSpPr/>
          <p:nvPr/>
        </p:nvSpPr>
        <p:spPr>
          <a:xfrm>
            <a:off x="10497240" y="1920240"/>
            <a:ext cx="548280" cy="54828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Stage icon 6" descr="Stage icon 6"/>
          <p:cNvPicPr/>
          <p:nvPr/>
        </p:nvPicPr>
        <p:blipFill>
          <a:blip r:embed="rId6"/>
          <a:stretch/>
        </p:blipFill>
        <p:spPr>
          <a:xfrm>
            <a:off x="10645560" y="2068200"/>
            <a:ext cx="252000" cy="25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Stage 6 name"/>
          <p:cNvSpPr/>
          <p:nvPr/>
        </p:nvSpPr>
        <p:spPr>
          <a:xfrm>
            <a:off x="10067400" y="2606040"/>
            <a:ext cx="1407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React Frontend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tage 6 detail"/>
          <p:cNvSpPr/>
          <p:nvPr/>
        </p:nvSpPr>
        <p:spPr>
          <a:xfrm>
            <a:off x="10067400" y="3063240"/>
            <a:ext cx="140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Maps &amp; pricing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Lane input"/>
          <p:cNvSpPr/>
          <p:nvPr/>
        </p:nvSpPr>
        <p:spPr>
          <a:xfrm>
            <a:off x="2511000" y="3840480"/>
            <a:ext cx="1554120" cy="5482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Lane input label"/>
          <p:cNvSpPr/>
          <p:nvPr/>
        </p:nvSpPr>
        <p:spPr>
          <a:xfrm>
            <a:off x="2511000" y="384048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Storage: Local FS / HDFS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Lane execution"/>
          <p:cNvSpPr/>
          <p:nvPr/>
        </p:nvSpPr>
        <p:spPr>
          <a:xfrm>
            <a:off x="4381920" y="3840480"/>
            <a:ext cx="5295960" cy="5482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Lane execution label"/>
          <p:cNvSpPr/>
          <p:nvPr/>
        </p:nvSpPr>
        <p:spPr>
          <a:xfrm>
            <a:off x="4381920" y="3840480"/>
            <a:ext cx="5295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Execution: PySpark 4.2 MLlib &amp; Uvicorn ASGI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Lane output"/>
          <p:cNvSpPr/>
          <p:nvPr/>
        </p:nvSpPr>
        <p:spPr>
          <a:xfrm>
            <a:off x="9994320" y="3840480"/>
            <a:ext cx="1554120" cy="5482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Lane output label"/>
          <p:cNvSpPr/>
          <p:nvPr/>
        </p:nvSpPr>
        <p:spPr>
          <a:xfrm>
            <a:off x="9994320" y="384048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Storage: Apache Cassandra (Port 9042)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Flow card"/>
          <p:cNvSpPr/>
          <p:nvPr/>
        </p:nvSpPr>
        <p:spPr>
          <a:xfrm>
            <a:off x="640080" y="4754880"/>
            <a:ext cx="5348880" cy="13255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Flow text"/>
          <p:cNvSpPr/>
          <p:nvPr/>
        </p:nvSpPr>
        <p:spPr>
          <a:xfrm>
            <a:off x="914400" y="4919400"/>
            <a:ext cx="48459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Conceptual flow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input CSVs → PySpark ETL → MLlib Random Forest → Cassandra sink → FastAPI &amp; React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Export card"/>
          <p:cNvSpPr/>
          <p:nvPr/>
        </p:nvSpPr>
        <p:spPr>
          <a:xfrm>
            <a:off x="6199560" y="4754880"/>
            <a:ext cx="5348880" cy="13255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Export text"/>
          <p:cNvSpPr/>
          <p:nvPr/>
        </p:nvSpPr>
        <p:spPr>
          <a:xfrm>
            <a:off x="6473880" y="4919400"/>
            <a:ext cx="48459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Output serving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Trained 45-tree model and Cassandra partitioned tables serve real-time predictions in &lt; 15ms.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ldNum" idx="8"/>
          </p:nvPr>
        </p:nvSpPr>
        <p:spPr>
          <a:xfrm>
            <a:off x="10634400" y="6400800"/>
            <a:ext cx="9140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A552A-2ED5-483C-99F3-317AFB3D833E}" type="slidenum">
              <a: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ection tag"/>
          <p:cNvSpPr/>
          <p:nvPr/>
        </p:nvSpPr>
        <p:spPr>
          <a:xfrm>
            <a:off x="640080" y="411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02  METHODOLOGY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title" hasCustomPrompt="1"/>
          </p:nvPr>
        </p:nvSpPr>
        <p:spPr>
          <a:xfrm>
            <a:off x="640080" y="658440"/>
            <a:ext cx="1090836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Implementation and execution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Environment card"/>
          <p:cNvSpPr/>
          <p:nvPr/>
        </p:nvSpPr>
        <p:spPr>
          <a:xfrm>
            <a:off x="640080" y="1691640"/>
            <a:ext cx="5211720" cy="434304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0" name="Environment table"/>
          <p:cNvGraphicFramePr/>
          <p:nvPr/>
        </p:nvGraphicFramePr>
        <p:xfrm>
          <a:off x="777240" y="1828800"/>
          <a:ext cx="4937400" cy="3840480"/>
        </p:xfrm>
        <a:graphic>
          <a:graphicData uri="http://schemas.openxmlformats.org/drawingml/2006/table">
            <a:tbl>
              <a:tblPr/>
              <a:tblGrid>
                <a:gridCol w="1463040"/>
                <a:gridCol w="3474720"/>
              </a:tblGrid>
              <a:tr h="64008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Platform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Linux (x86_64)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4008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Framework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Apache Spark 4.2 + Apache Cassandra 4.1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4008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Language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Python 3.14 + React 19 (JavaScript)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4008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Execution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Distributed Spark Worker &amp; FastAPI ASGI (Uvicorn)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4008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Datasets Input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Inside Airbnb (7 hubs) + DoorstepAnalytics (India)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4008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Storage Sink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Cassandra keyspace airbnb_intelligence (port 9042)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1" name="Step card 1"/>
          <p:cNvSpPr/>
          <p:nvPr/>
        </p:nvSpPr>
        <p:spPr>
          <a:xfrm>
            <a:off x="6126480" y="1691640"/>
            <a:ext cx="5421960" cy="7311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tep circle 1"/>
          <p:cNvSpPr/>
          <p:nvPr/>
        </p:nvSpPr>
        <p:spPr>
          <a:xfrm>
            <a:off x="6309360" y="1819800"/>
            <a:ext cx="475200" cy="47520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tep number 1"/>
          <p:cNvSpPr/>
          <p:nvPr/>
        </p:nvSpPr>
        <p:spPr>
          <a:xfrm>
            <a:off x="6309360" y="18198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tep 1"/>
          <p:cNvSpPr/>
          <p:nvPr/>
        </p:nvSpPr>
        <p:spPr>
          <a:xfrm>
            <a:off x="6949440" y="1691640"/>
            <a:ext cx="4480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Load 213,299 Inside Airbnb &amp; 10,834 DoorstepAnalytics CSVs into PySpark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tep card 2"/>
          <p:cNvSpPr/>
          <p:nvPr/>
        </p:nvSpPr>
        <p:spPr>
          <a:xfrm>
            <a:off x="6126480" y="2578680"/>
            <a:ext cx="5421960" cy="7311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tep circle 2"/>
          <p:cNvSpPr/>
          <p:nvPr/>
        </p:nvSpPr>
        <p:spPr>
          <a:xfrm>
            <a:off x="6309360" y="2706480"/>
            <a:ext cx="475200" cy="47520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tep number 2"/>
          <p:cNvSpPr/>
          <p:nvPr/>
        </p:nvSpPr>
        <p:spPr>
          <a:xfrm>
            <a:off x="6309360" y="27064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tep 2"/>
          <p:cNvSpPr/>
          <p:nvPr/>
        </p:nvSpPr>
        <p:spPr>
          <a:xfrm>
            <a:off x="6949440" y="2578680"/>
            <a:ext cx="4480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Clean prices, impute null ratings with medians, and derive price_usd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tep card 3"/>
          <p:cNvSpPr/>
          <p:nvPr/>
        </p:nvSpPr>
        <p:spPr>
          <a:xfrm>
            <a:off x="6126480" y="3465720"/>
            <a:ext cx="5421960" cy="7311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tep circle 3"/>
          <p:cNvSpPr/>
          <p:nvPr/>
        </p:nvSpPr>
        <p:spPr>
          <a:xfrm>
            <a:off x="6309360" y="3593520"/>
            <a:ext cx="475200" cy="47520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tep number 3"/>
          <p:cNvSpPr/>
          <p:nvPr/>
        </p:nvSpPr>
        <p:spPr>
          <a:xfrm>
            <a:off x="6309360" y="35935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tep 3"/>
          <p:cNvSpPr/>
          <p:nvPr/>
        </p:nvSpPr>
        <p:spPr>
          <a:xfrm>
            <a:off x="6949440" y="3465720"/>
            <a:ext cx="4480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Train 45-tree Random Forest Regressor (max depth 9) on 80% train split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tep card 4"/>
          <p:cNvSpPr/>
          <p:nvPr/>
        </p:nvSpPr>
        <p:spPr>
          <a:xfrm>
            <a:off x="6126480" y="4352400"/>
            <a:ext cx="5421960" cy="7311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tep circle 4"/>
          <p:cNvSpPr/>
          <p:nvPr/>
        </p:nvSpPr>
        <p:spPr>
          <a:xfrm>
            <a:off x="6309360" y="4480560"/>
            <a:ext cx="475200" cy="47520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tep number 4"/>
          <p:cNvSpPr/>
          <p:nvPr/>
        </p:nvSpPr>
        <p:spPr>
          <a:xfrm>
            <a:off x="6309360" y="448056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4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tep 4"/>
          <p:cNvSpPr/>
          <p:nvPr/>
        </p:nvSpPr>
        <p:spPr>
          <a:xfrm>
            <a:off x="6949440" y="4352400"/>
            <a:ext cx="4480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Batch-insert city summaries and spatial listings into Apache Cassandra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tep card 5"/>
          <p:cNvSpPr/>
          <p:nvPr/>
        </p:nvSpPr>
        <p:spPr>
          <a:xfrm>
            <a:off x="6126480" y="5239440"/>
            <a:ext cx="5421960" cy="7311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tep circle 5"/>
          <p:cNvSpPr/>
          <p:nvPr/>
        </p:nvSpPr>
        <p:spPr>
          <a:xfrm>
            <a:off x="6309360" y="5367600"/>
            <a:ext cx="475200" cy="47520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tep number 5"/>
          <p:cNvSpPr/>
          <p:nvPr/>
        </p:nvSpPr>
        <p:spPr>
          <a:xfrm>
            <a:off x="6309360" y="53676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5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tep 5"/>
          <p:cNvSpPr/>
          <p:nvPr/>
        </p:nvSpPr>
        <p:spPr>
          <a:xfrm>
            <a:off x="6949440" y="5239440"/>
            <a:ext cx="4480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Launch FastAPI backend on port 8001 with pre-loaded in-memory Spark trees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ldNum" idx="9"/>
          </p:nvPr>
        </p:nvSpPr>
        <p:spPr>
          <a:xfrm>
            <a:off x="10634400" y="6400800"/>
            <a:ext cx="9140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B82024-FCDC-459E-89EC-784666A48228}" type="slidenum">
              <a: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ection tag"/>
          <p:cNvSpPr/>
          <p:nvPr/>
        </p:nvSpPr>
        <p:spPr>
          <a:xfrm>
            <a:off x="640080" y="411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03  RESULTS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title" hasCustomPrompt="1"/>
          </p:nvPr>
        </p:nvSpPr>
        <p:spPr>
          <a:xfrm>
            <a:off x="640080" y="658440"/>
            <a:ext cx="1090836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Observed dataset distribution across markets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Chart card"/>
          <p:cNvSpPr/>
          <p:nvPr/>
        </p:nvSpPr>
        <p:spPr>
          <a:xfrm>
            <a:off x="640080" y="1691640"/>
            <a:ext cx="6720480" cy="43887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5" name="Rating distribution chart"/>
          <p:cNvGraphicFramePr/>
          <p:nvPr/>
        </p:nvGraphicFramePr>
        <p:xfrm>
          <a:off x="777240" y="1783080"/>
          <a:ext cx="6446160" cy="420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86" name="Rating counts table"/>
          <p:cNvGraphicFramePr/>
          <p:nvPr/>
        </p:nvGraphicFramePr>
        <p:xfrm>
          <a:off x="7635240" y="1691640"/>
          <a:ext cx="3913200" cy="466596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353240"/>
              </a:tblGrid>
              <a:tr h="50292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Market Destination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Listings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Average Rate (Local Currency)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2"/>
                    </a:solidFill>
                  </a:tcPr>
                </a:tc>
              </a:tr>
              <a:tr h="50292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London (United Kingdom)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59,690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£227.95 GBP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0292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Paris (France)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43,286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€299.30 EUR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0292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Rome (Italy)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33,846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€237.18 EUR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0292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Tokyo (Japan)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33,535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¥27,207.16 JPY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0292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New York City (USA)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19,299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$280.60 USD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0292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Bengaluru &amp; Mumbai (India)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rgbClr val="E3E8F0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10,834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rgbClr val="E3E8F0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₹2,783 / ₹5,706 INR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rgbClr val="E3E8F0"/>
                    </a:solidFill>
                  </a:tcPr>
                </a:tc>
              </a:tr>
            </a:tbl>
          </a:graphicData>
        </a:graphic>
      </p:graphicFrame>
      <p:sp>
        <p:nvSpPr>
          <p:cNvPr id="187" name="Table note"/>
          <p:cNvSpPr/>
          <p:nvPr/>
        </p:nvSpPr>
        <p:spPr>
          <a:xfrm>
            <a:off x="7635240" y="5440680"/>
            <a:ext cx="3913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Total = 224,098 verified listings across 7 official Inside Airbnb global hubs and 2 real Indian metros.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sldNum" idx="10"/>
          </p:nvPr>
        </p:nvSpPr>
        <p:spPr>
          <a:xfrm>
            <a:off x="10634400" y="6400800"/>
            <a:ext cx="9140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7D6817-B0BF-4AAE-A719-D46369602424}" type="slidenum">
              <a: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ection tag"/>
          <p:cNvSpPr/>
          <p:nvPr/>
        </p:nvSpPr>
        <p:spPr>
          <a:xfrm>
            <a:off x="640080" y="411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03  RESULTS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1"/>
          <p:cNvSpPr>
            <a:spLocks noGrp="1"/>
          </p:cNvSpPr>
          <p:nvPr>
            <p:ph type="title" hasCustomPrompt="1"/>
          </p:nvPr>
        </p:nvSpPr>
        <p:spPr>
          <a:xfrm>
            <a:off x="640080" y="658440"/>
            <a:ext cx="1090836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Analysis of the results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Stat card 1"/>
          <p:cNvSpPr/>
          <p:nvPr/>
        </p:nvSpPr>
        <p:spPr>
          <a:xfrm>
            <a:off x="640080" y="1691640"/>
            <a:ext cx="2532600" cy="2011320"/>
          </a:xfrm>
          <a:prstGeom prst="rect">
            <a:avLst/>
          </a:prstGeom>
          <a:solidFill>
            <a:schemeClr val="tx2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tatistic 1"/>
          <p:cNvSpPr/>
          <p:nvPr/>
        </p:nvSpPr>
        <p:spPr>
          <a:xfrm>
            <a:off x="868680" y="1874520"/>
            <a:ext cx="2102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224,098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tatistic label 1"/>
          <p:cNvSpPr/>
          <p:nvPr/>
        </p:nvSpPr>
        <p:spPr>
          <a:xfrm>
            <a:off x="868680" y="2743200"/>
            <a:ext cx="2148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Total listings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Ingested &amp; modeled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tat card 2"/>
          <p:cNvSpPr/>
          <p:nvPr/>
        </p:nvSpPr>
        <p:spPr>
          <a:xfrm>
            <a:off x="3431880" y="1691640"/>
            <a:ext cx="2532600" cy="20113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tatistic 2"/>
          <p:cNvSpPr/>
          <p:nvPr/>
        </p:nvSpPr>
        <p:spPr>
          <a:xfrm>
            <a:off x="3660480" y="1874520"/>
            <a:ext cx="2102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35.1%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tatistic label 2"/>
          <p:cNvSpPr/>
          <p:nvPr/>
        </p:nvSpPr>
        <p:spPr>
          <a:xfrm>
            <a:off x="3660480" y="2743200"/>
            <a:ext cx="2148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Error reduction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vs OLS baseline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tat card 3"/>
          <p:cNvSpPr/>
          <p:nvPr/>
        </p:nvSpPr>
        <p:spPr>
          <a:xfrm>
            <a:off x="6223320" y="1691640"/>
            <a:ext cx="2532600" cy="20113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tatistic 3"/>
          <p:cNvSpPr/>
          <p:nvPr/>
        </p:nvSpPr>
        <p:spPr>
          <a:xfrm>
            <a:off x="6451920" y="1874520"/>
            <a:ext cx="2102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$209.98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tatistic label 3"/>
          <p:cNvSpPr/>
          <p:nvPr/>
        </p:nvSpPr>
        <p:spPr>
          <a:xfrm>
            <a:off x="6451920" y="2743200"/>
            <a:ext cx="2148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Test RMSE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44,272 test records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tat card 4"/>
          <p:cNvSpPr/>
          <p:nvPr/>
        </p:nvSpPr>
        <p:spPr>
          <a:xfrm>
            <a:off x="9015120" y="1691640"/>
            <a:ext cx="2532600" cy="20113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tatistic 4"/>
          <p:cNvSpPr/>
          <p:nvPr/>
        </p:nvSpPr>
        <p:spPr>
          <a:xfrm>
            <a:off x="9243720" y="1874520"/>
            <a:ext cx="2102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0.3659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tatistic label 4"/>
          <p:cNvSpPr/>
          <p:nvPr/>
        </p:nvSpPr>
        <p:spPr>
          <a:xfrm>
            <a:off x="9243720" y="2743200"/>
            <a:ext cx="2148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R² Score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45 trees, depth 9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Interpretation card"/>
          <p:cNvSpPr/>
          <p:nvPr/>
        </p:nvSpPr>
        <p:spPr>
          <a:xfrm>
            <a:off x="640080" y="3977640"/>
            <a:ext cx="10908360" cy="21027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Interpretation heading"/>
          <p:cNvSpPr/>
          <p:nvPr/>
        </p:nvSpPr>
        <p:spPr>
          <a:xfrm>
            <a:off x="960120" y="41605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Interpretation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Interpretation list"/>
          <p:cNvSpPr/>
          <p:nvPr/>
        </p:nvSpPr>
        <p:spPr>
          <a:xfrm>
            <a:off x="960120" y="4617720"/>
            <a:ext cx="102682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F2933"/>
              </a:buClr>
              <a:buFont typeface="Symbol" charset="2"/>
              <a:buChar char=""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Random Forest model explains 36.6% of global price variance across 9 diverse cities, reducing RMSE by 35.1% over standard OLS baselines ($323.37).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F2933"/>
              </a:buClr>
              <a:buFont typeface="Symbol" charset="2"/>
              <a:buChar char=""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Accommodates (guest capacity) and bedrooms are the primary price drivers, accounting for 62.2% of total feature importance.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F2933"/>
              </a:buClr>
              <a:buFont typeface="Symbol" charset="2"/>
              <a:buChar char=""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Native currency calibration ensures domestic purchasing power (₹ INR in India, ¥ JPY in Japan) is preserved without exchange distortion.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ldNum" idx="11"/>
          </p:nvPr>
        </p:nvSpPr>
        <p:spPr>
          <a:xfrm>
            <a:off x="10634400" y="6400800"/>
            <a:ext cx="9140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735221-09C8-451E-B608-346A56CAB4E3}" type="slidenum">
              <a: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ection tag"/>
          <p:cNvSpPr/>
          <p:nvPr/>
        </p:nvSpPr>
        <p:spPr>
          <a:xfrm>
            <a:off x="640080" y="411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03  RESULTS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 hasCustomPrompt="1"/>
          </p:nvPr>
        </p:nvSpPr>
        <p:spPr>
          <a:xfrm>
            <a:off x="640080" y="658440"/>
            <a:ext cx="1090836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System validation and deployment metrics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09" name="Job counters table"/>
          <p:cNvGraphicFramePr/>
          <p:nvPr/>
        </p:nvGraphicFramePr>
        <p:xfrm>
          <a:off x="640080" y="1691640"/>
          <a:ext cx="5211720" cy="4390200"/>
        </p:xfrm>
        <a:graphic>
          <a:graphicData uri="http://schemas.openxmlformats.org/drawingml/2006/table">
            <a:tbl>
              <a:tblPr/>
              <a:tblGrid>
                <a:gridCol w="2926080"/>
                <a:gridCol w="2286000"/>
              </a:tblGrid>
              <a:tr h="54864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AirIQ Component Summary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Status / Value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2"/>
                    </a:solidFill>
                  </a:tcPr>
                </a:tc>
              </a:tr>
              <a:tr h="54864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FastAPI Backend Status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Active (Port 8001)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864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Apache Cassandra Cluster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UN - Up/Normal (Port 9042)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864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Spark MLlib Trees Loaded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45 Trees (In-Memory)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864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Prediction Latency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&lt; 15 ms per request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864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Map Pin Clustering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Zero DOM lag (react-leaflet-cluster)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864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Indian Metros Covered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Mumbai &amp; Bengaluru (Real INR)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8640"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Total Listings Ingested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tIns="0" rIns="1371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224,098 records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0" marB="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D5DBE5"/>
                      </a:solidFill>
                      <a:prstDash val="solid"/>
                    </a:lnT>
                    <a:lnB w="9360">
                      <a:solidFill>
                        <a:srgbClr val="D5DBE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0" name="Observations heading"/>
          <p:cNvSpPr/>
          <p:nvPr/>
        </p:nvSpPr>
        <p:spPr>
          <a:xfrm>
            <a:off x="612648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system validations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Observation card 1"/>
          <p:cNvSpPr/>
          <p:nvPr/>
        </p:nvSpPr>
        <p:spPr>
          <a:xfrm>
            <a:off x="6126480" y="2194560"/>
            <a:ext cx="5421960" cy="67644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Observation circle 1"/>
          <p:cNvSpPr/>
          <p:nvPr/>
        </p:nvSpPr>
        <p:spPr>
          <a:xfrm>
            <a:off x="6291000" y="230436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Observation number 1"/>
          <p:cNvSpPr/>
          <p:nvPr/>
        </p:nvSpPr>
        <p:spPr>
          <a:xfrm>
            <a:off x="6291000" y="2304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Observation 1"/>
          <p:cNvSpPr/>
          <p:nvPr/>
        </p:nvSpPr>
        <p:spPr>
          <a:xfrm>
            <a:off x="6903720" y="2194560"/>
            <a:ext cx="45259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 14,000 spatial coordinates were validated to fall within land boundaries (no water pins).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Observation card 2"/>
          <p:cNvSpPr/>
          <p:nvPr/>
        </p:nvSpPr>
        <p:spPr>
          <a:xfrm>
            <a:off x="6126480" y="2999160"/>
            <a:ext cx="5421960" cy="67644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Observation circle 2"/>
          <p:cNvSpPr/>
          <p:nvPr/>
        </p:nvSpPr>
        <p:spPr>
          <a:xfrm>
            <a:off x="6291000" y="310896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Observation number 2"/>
          <p:cNvSpPr/>
          <p:nvPr/>
        </p:nvSpPr>
        <p:spPr>
          <a:xfrm>
            <a:off x="6291000" y="3108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Observation 2"/>
          <p:cNvSpPr/>
          <p:nvPr/>
        </p:nvSpPr>
        <p:spPr>
          <a:xfrm>
            <a:off x="6903720" y="2999160"/>
            <a:ext cx="45259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FastAPI pre-loads decision tree nodes into memory, avoiding PySpark JVM execution overhead during inference.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Observation card 3"/>
          <p:cNvSpPr/>
          <p:nvPr/>
        </p:nvSpPr>
        <p:spPr>
          <a:xfrm>
            <a:off x="6126480" y="3803760"/>
            <a:ext cx="5421960" cy="67644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Observation circle 3"/>
          <p:cNvSpPr/>
          <p:nvPr/>
        </p:nvSpPr>
        <p:spPr>
          <a:xfrm>
            <a:off x="6291000" y="391356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Observation number 3"/>
          <p:cNvSpPr/>
          <p:nvPr/>
        </p:nvSpPr>
        <p:spPr>
          <a:xfrm>
            <a:off x="6291000" y="3913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Observation 3"/>
          <p:cNvSpPr/>
          <p:nvPr/>
        </p:nvSpPr>
        <p:spPr>
          <a:xfrm>
            <a:off x="6903720" y="3803760"/>
            <a:ext cx="45259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Leaflet marker clustering dynamically aggregates hundreds of dense pins into interactive badges.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Verification card"/>
          <p:cNvSpPr/>
          <p:nvPr/>
        </p:nvSpPr>
        <p:spPr>
          <a:xfrm>
            <a:off x="6126480" y="4663440"/>
            <a:ext cx="5421960" cy="1371240"/>
          </a:xfrm>
          <a:prstGeom prst="rect">
            <a:avLst/>
          </a:prstGeom>
          <a:solidFill>
            <a:schemeClr val="tx2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Verification text"/>
          <p:cNvSpPr/>
          <p:nvPr/>
        </p:nvSpPr>
        <p:spPr>
          <a:xfrm>
            <a:off x="6382440" y="4800600"/>
            <a:ext cx="49374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Deployment verification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full stack (Cassandra + FastAPI + React) runs smoothly on Kali Linux with sub-second response times.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sldNum" idx="12"/>
          </p:nvPr>
        </p:nvSpPr>
        <p:spPr>
          <a:xfrm>
            <a:off x="10634400" y="6400800"/>
            <a:ext cx="9140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52242C-D2FF-47AF-9DEB-4DA99042249F}" type="slidenum">
              <a: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ection tag"/>
          <p:cNvSpPr/>
          <p:nvPr/>
        </p:nvSpPr>
        <p:spPr>
          <a:xfrm>
            <a:off x="640080" y="411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04  CONCLUSION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1"/>
          <p:cNvSpPr>
            <a:spLocks noGrp="1"/>
          </p:cNvSpPr>
          <p:nvPr>
            <p:ph type="title" hasCustomPrompt="1"/>
          </p:nvPr>
        </p:nvSpPr>
        <p:spPr>
          <a:xfrm>
            <a:off x="640080" y="658440"/>
            <a:ext cx="1090836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Conclusion and future scope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" name="Conclusion card"/>
          <p:cNvSpPr/>
          <p:nvPr/>
        </p:nvSpPr>
        <p:spPr>
          <a:xfrm>
            <a:off x="640080" y="1691640"/>
            <a:ext cx="5348880" cy="43887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Conclusion heading"/>
          <p:cNvSpPr/>
          <p:nvPr/>
        </p:nvSpPr>
        <p:spPr>
          <a:xfrm>
            <a:off x="960120" y="187452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Conclusion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Conclusion text"/>
          <p:cNvSpPr/>
          <p:nvPr/>
        </p:nvSpPr>
        <p:spPr>
          <a:xfrm>
            <a:off x="960120" y="2423160"/>
            <a:ext cx="47088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project successfully demonstrates how 224,098 short-term rental listings can be harmonized, stored, and modeled using Apache Spark MLlib, Cassandra NoSQL, and React 19 to provide accurate, multi-currency price intelligence.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Outcomes heading"/>
          <p:cNvSpPr/>
          <p:nvPr/>
        </p:nvSpPr>
        <p:spPr>
          <a:xfrm>
            <a:off x="960120" y="38404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Learning outcomes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Outcomes list"/>
          <p:cNvSpPr/>
          <p:nvPr/>
        </p:nvSpPr>
        <p:spPr>
          <a:xfrm>
            <a:off x="960120" y="4297680"/>
            <a:ext cx="4708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3"/>
              </a:buClr>
              <a:buFont typeface="Symbol" charset="2"/>
              <a:buChar char=""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Distributed data engineering with PySpark DataFrames and Data Types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3"/>
              </a:buClr>
              <a:buFont typeface="Symbol" charset="2"/>
              <a:buChar char=""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PySpark MLlib Random Forest Regressor and VectorAssembler pipelines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3"/>
              </a:buClr>
              <a:buFont typeface="Symbol" charset="2"/>
              <a:buChar char=""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Apache Cassandra partitioned keyspaces and CQL query optimization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3"/>
              </a:buClr>
              <a:buFont typeface="Symbol" charset="2"/>
              <a:buChar char=""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Multi-currency normalization and de-normalization strategies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3"/>
              </a:buClr>
              <a:buFont typeface="Symbol" charset="2"/>
              <a:buChar char=""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Full-stack integration using async FastAPI and Leaflet marker clustering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Future scope card"/>
          <p:cNvSpPr/>
          <p:nvPr/>
        </p:nvSpPr>
        <p:spPr>
          <a:xfrm>
            <a:off x="6199560" y="1691640"/>
            <a:ext cx="5348880" cy="4388760"/>
          </a:xfrm>
          <a:prstGeom prst="rect">
            <a:avLst/>
          </a:prstGeom>
          <a:solidFill>
            <a:schemeClr val="tx2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Future scope heading"/>
          <p:cNvSpPr/>
          <p:nvPr/>
        </p:nvSpPr>
        <p:spPr>
          <a:xfrm>
            <a:off x="6519600" y="187452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 scope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Future scope list"/>
          <p:cNvSpPr/>
          <p:nvPr/>
        </p:nvSpPr>
        <p:spPr>
          <a:xfrm>
            <a:off x="6519600" y="2468880"/>
            <a:ext cx="470880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F2933"/>
              </a:buClr>
              <a:buFont typeface="Cambria"/>
              <a:buAutoNum type="arabicPeriod"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Integrate Apache Kafka for real-time streaming of calendar price changes.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F2933"/>
              </a:buClr>
              <a:buFont typeface="Cambria"/>
              <a:buAutoNum type="arabicPeriod"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Add Deep Learning (CNNs / Vision Transformers) to score interior listing photos.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F2933"/>
              </a:buClr>
              <a:buFont typeface="Cambria"/>
              <a:buAutoNum type="arabicPeriod"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Incorporate NLP sentiment analysis on guest reviews for pricing multipliers.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F2933"/>
              </a:buClr>
              <a:buFont typeface="Cambria"/>
              <a:buAutoNum type="arabicPeriod"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Deploy automated CI/CD retraining using MLflow on quarterly Inside Airbnb releases.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ldNum" idx="13"/>
          </p:nvPr>
        </p:nvSpPr>
        <p:spPr>
          <a:xfrm>
            <a:off x="10634400" y="6400800"/>
            <a:ext cx="9140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089042-9DEE-4429-99C9-A8A95404AA31}" type="slidenum">
              <a: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ection tag"/>
          <p:cNvSpPr/>
          <p:nvPr/>
        </p:nvSpPr>
        <p:spPr>
          <a:xfrm>
            <a:off x="640080" y="411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04  CONCLUSION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1"/>
          <p:cNvSpPr>
            <a:spLocks noGrp="1"/>
          </p:cNvSpPr>
          <p:nvPr>
            <p:ph type="title" hasCustomPrompt="1"/>
          </p:nvPr>
        </p:nvSpPr>
        <p:spPr>
          <a:xfrm>
            <a:off x="640080" y="658440"/>
            <a:ext cx="1090836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References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" name="Reference card 1"/>
          <p:cNvSpPr/>
          <p:nvPr/>
        </p:nvSpPr>
        <p:spPr>
          <a:xfrm>
            <a:off x="640080" y="1691640"/>
            <a:ext cx="10908360" cy="9507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ference number 1"/>
          <p:cNvSpPr/>
          <p:nvPr/>
        </p:nvSpPr>
        <p:spPr>
          <a:xfrm>
            <a:off x="914400" y="1691640"/>
            <a:ext cx="639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[1]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eference 1"/>
          <p:cNvSpPr/>
          <p:nvPr/>
        </p:nvSpPr>
        <p:spPr>
          <a:xfrm>
            <a:off x="1645920" y="1691640"/>
            <a:ext cx="962820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Apache Spark Documentation, "MLlib: Main Guide - Random Forest Regression," spark.apache.org/docs/latest/ml-classification-regression.html, 2026.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eference card 2"/>
          <p:cNvSpPr/>
          <p:nvPr/>
        </p:nvSpPr>
        <p:spPr>
          <a:xfrm>
            <a:off x="640080" y="2807280"/>
            <a:ext cx="10908360" cy="9507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eference number 2"/>
          <p:cNvSpPr/>
          <p:nvPr/>
        </p:nvSpPr>
        <p:spPr>
          <a:xfrm>
            <a:off x="914400" y="2807280"/>
            <a:ext cx="639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[2]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eference 2"/>
          <p:cNvSpPr/>
          <p:nvPr/>
        </p:nvSpPr>
        <p:spPr>
          <a:xfrm>
            <a:off x="1645920" y="2807280"/>
            <a:ext cx="962820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Apache Cassandra Documentation, "Architecture &amp; Data Modeling with Partition Keys," cassandra.apache.org/doc/latest/, 2026.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eference card 3"/>
          <p:cNvSpPr/>
          <p:nvPr/>
        </p:nvSpPr>
        <p:spPr>
          <a:xfrm>
            <a:off x="640080" y="3922920"/>
            <a:ext cx="10908360" cy="9507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ference number 3"/>
          <p:cNvSpPr/>
          <p:nvPr/>
        </p:nvSpPr>
        <p:spPr>
          <a:xfrm>
            <a:off x="914400" y="3922920"/>
            <a:ext cx="639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[3]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ference 3"/>
          <p:cNvSpPr/>
          <p:nvPr/>
        </p:nvSpPr>
        <p:spPr>
          <a:xfrm>
            <a:off x="1645920" y="3922920"/>
            <a:ext cx="962820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Inside Airbnb, "Adding data to the debate - Open Housing and Rental Data," insideairbnb.com/get-the-data/, 2026.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ference card 4"/>
          <p:cNvSpPr/>
          <p:nvPr/>
        </p:nvSpPr>
        <p:spPr>
          <a:xfrm>
            <a:off x="640080" y="5038200"/>
            <a:ext cx="10908360" cy="9507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bl" blurRad="101520" dir="5400000" dist="25560" rotWithShape="0">
              <a:srgbClr val="1628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ference number 4"/>
          <p:cNvSpPr/>
          <p:nvPr/>
        </p:nvSpPr>
        <p:spPr>
          <a:xfrm>
            <a:off x="914400" y="5038200"/>
            <a:ext cx="639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[4]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ference 4"/>
          <p:cNvSpPr/>
          <p:nvPr/>
        </p:nvSpPr>
        <p:spPr>
          <a:xfrm>
            <a:off x="1645920" y="5038200"/>
            <a:ext cx="962820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J. Chen and K. Xie, "Consumer valuation of Airbnb listings: a hedonic pricing approach," International Journal of Contemporary Hospitality Management, vol. 29, no. 9, 2017.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sldNum" idx="14"/>
          </p:nvPr>
        </p:nvSpPr>
        <p:spPr>
          <a:xfrm>
            <a:off x="10634400" y="6400800"/>
            <a:ext cx="9140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11E899-94FD-443B-BE87-06710C85058F}" type="slidenum">
              <a:rPr lang="en-US" sz="1000" b="0" u="none" strike="noStrike">
                <a:solidFill>
                  <a:srgbClr val="5A6A84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 hasCustomPrompt="1"/>
          </p:nvPr>
        </p:nvSpPr>
        <p:spPr>
          <a:xfrm>
            <a:off x="822960" y="1965960"/>
            <a:ext cx="6766200" cy="173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Thank you</a:t>
            </a:r>
            <a:endParaRPr lang="en-IN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" name="Closing subtitle"/>
          <p:cNvSpPr/>
          <p:nvPr/>
        </p:nvSpPr>
        <p:spPr>
          <a:xfrm>
            <a:off x="822960" y="3017520"/>
            <a:ext cx="640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Questions and discussion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Project name"/>
          <p:cNvSpPr/>
          <p:nvPr/>
        </p:nvSpPr>
        <p:spPr>
          <a:xfrm>
            <a:off x="822960" y="507492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AirIQ: Multi-City Airbnb Price Intelligence Platform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University"/>
          <p:cNvSpPr/>
          <p:nvPr/>
        </p:nvSpPr>
        <p:spPr>
          <a:xfrm>
            <a:off x="822960" y="553212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Aditya Raju Pidurkar-40  |  Nidhi Singh-15</a:t>
            </a:r>
            <a:br>
              <a:rPr sz="1300"/>
            </a:br>
            <a:r>
              <a:rPr lang="en-IN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Ramdeobaba University, Nagpur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Motif panel"/>
          <p:cNvSpPr/>
          <p:nvPr/>
        </p:nvSpPr>
        <p:spPr>
          <a:xfrm>
            <a:off x="8138160" y="914400"/>
            <a:ext cx="3428640" cy="5028840"/>
          </a:xfrm>
          <a:prstGeom prst="rect">
            <a:avLst/>
          </a:prstGeom>
          <a:solidFill>
            <a:srgbClr val="1D3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Motif caption"/>
          <p:cNvSpPr/>
          <p:nvPr/>
        </p:nvSpPr>
        <p:spPr>
          <a:xfrm>
            <a:off x="8366760" y="114300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MARKET COVERAGE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Closing motif bar 1"/>
          <p:cNvSpPr/>
          <p:nvPr/>
        </p:nvSpPr>
        <p:spPr>
          <a:xfrm>
            <a:off x="8298360" y="4969800"/>
            <a:ext cx="475200" cy="379080"/>
          </a:xfrm>
          <a:prstGeom prst="rect">
            <a:avLst/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Closing motif label 1"/>
          <p:cNvSpPr/>
          <p:nvPr/>
        </p:nvSpPr>
        <p:spPr>
          <a:xfrm>
            <a:off x="8206920" y="544068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London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Closing motif bar 2"/>
          <p:cNvSpPr/>
          <p:nvPr/>
        </p:nvSpPr>
        <p:spPr>
          <a:xfrm>
            <a:off x="8956440" y="5161680"/>
            <a:ext cx="475200" cy="187200"/>
          </a:xfrm>
          <a:prstGeom prst="rect">
            <a:avLst/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Closing motif label 2"/>
          <p:cNvSpPr/>
          <p:nvPr/>
        </p:nvSpPr>
        <p:spPr>
          <a:xfrm>
            <a:off x="8865000" y="544068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Paris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Closing motif bar 3"/>
          <p:cNvSpPr/>
          <p:nvPr/>
        </p:nvSpPr>
        <p:spPr>
          <a:xfrm>
            <a:off x="9614880" y="5022360"/>
            <a:ext cx="475200" cy="326520"/>
          </a:xfrm>
          <a:prstGeom prst="rect">
            <a:avLst/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Closing motif label 3"/>
          <p:cNvSpPr/>
          <p:nvPr/>
        </p:nvSpPr>
        <p:spPr>
          <a:xfrm>
            <a:off x="9523440" y="544068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Tokyo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Closing motif bar 4"/>
          <p:cNvSpPr/>
          <p:nvPr/>
        </p:nvSpPr>
        <p:spPr>
          <a:xfrm>
            <a:off x="10273320" y="4556160"/>
            <a:ext cx="475200" cy="792720"/>
          </a:xfrm>
          <a:prstGeom prst="rect">
            <a:avLst/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Closing motif label 4"/>
          <p:cNvSpPr/>
          <p:nvPr/>
        </p:nvSpPr>
        <p:spPr>
          <a:xfrm>
            <a:off x="10181880" y="544068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Mumbai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Closing motif bar 5"/>
          <p:cNvSpPr/>
          <p:nvPr/>
        </p:nvSpPr>
        <p:spPr>
          <a:xfrm>
            <a:off x="10931760" y="1874520"/>
            <a:ext cx="475200" cy="34743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Closing motif label 5"/>
          <p:cNvSpPr/>
          <p:nvPr/>
        </p:nvSpPr>
        <p:spPr>
          <a:xfrm>
            <a:off x="10840320" y="544068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Bengaluru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cademic Navy">
  <a:themeElements>
    <a:clrScheme name="Academic Navy">
      <a:dk1>
        <a:srgbClr val="1F2933"/>
      </a:dk1>
      <a:lt1>
        <a:srgbClr val="FFFFFF"/>
      </a:lt1>
      <a:dk2>
        <a:srgbClr val="16284A"/>
      </a:dk2>
      <a:lt2>
        <a:srgbClr val="EEF1F6"/>
      </a:lt2>
      <a:accent1>
        <a:srgbClr val="16284A"/>
      </a:accent1>
      <a:accent2>
        <a:srgbClr val="C77D1A"/>
      </a:accent2>
      <a:accent3>
        <a:srgbClr val="5A6A84"/>
      </a:accent3>
      <a:accent4>
        <a:srgbClr val="B8C2D3"/>
      </a:accent4>
      <a:accent5>
        <a:srgbClr val="2E4A7D"/>
      </a:accent5>
      <a:accent6>
        <a:srgbClr val="9C3D2E"/>
      </a:accent6>
      <a:hlink>
        <a:srgbClr val="2E4A7D"/>
      </a:hlink>
      <a:folHlink>
        <a:srgbClr val="5A6A84"/>
      </a:folHlink>
    </a:clrScheme>
    <a:fontScheme name="Academic Navy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LibreOffice/26.2.4.2$Linux_X86_64 LibreOffice_project/0229ac93fcf0d7cbc6376066c6f35021cef002dc</Application>
  <AppVersion>15.0000</AppVersion>
  <Words>1358</Words>
  <Paragraphs>238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2026-10-22T07:57:01Z</dcterms:created>
  <dc:creator>Big Data Analytics Project</dc:creator>
  <dc:description/>
  <dc:language>en-IN</dc:language>
  <cp:lastModifiedBy/>
  <dcterms:modified xsi:type="dcterms:W3CDTF">2026-10-27T12:52:29Z</dcterms:modified>
  <cp:revision>3</cp:revision>
  <dc:subject>PptxGenJS Presentation</dc:subject>
  <dc:title>Amazon Review Rating Analysis using Hadoop MapReduce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12</vt:i4>
  </property>
</Properties>
</file>