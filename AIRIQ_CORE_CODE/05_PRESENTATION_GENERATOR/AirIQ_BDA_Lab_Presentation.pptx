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09778AF-FC50-5F59-CCF2-ED4C149AFB5D}">
          <p14:sldIdLst>
            <p14:sldId id="256"/>
            <p14:sldId id="257"/>
            <p14:sldId id="258"/>
          </p14:sldIdLst>
        </p14:section>
        <p14:section name="Methodology" id="{67C047CA-9775-F493-7804-0FD3CEF182FB}">
          <p14:sldIdLst>
            <p14:sldId id="259"/>
            <p14:sldId id="260"/>
            <p14:sldId id="262"/>
          </p14:sldIdLst>
        </p14:section>
        <p14:section name="Results" id="{2AC6741C-5893-95F4-B653-3A8296834EE4}">
          <p14:sldIdLst>
            <p14:sldId id="263"/>
            <p14:sldId id="264"/>
            <p14:sldId id="265"/>
          </p14:sldIdLst>
        </p14:section>
        <p14:section name="Conclusion" id="{A5D2AE97-3542-699C-0C88-CB9C00E5F8F6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F2933"/>
                </a:solidFill>
                <a:latin typeface="+mn-lt"/>
              </a:defRPr>
            </a:pPr>
            <a:r>
              <a:rPr lang="en-IN" sz="1500" b="0" i="0" u="none" strike="noStrike">
                <a:solidFill>
                  <a:srgbClr val="1F2933"/>
                </a:solidFill>
                <a:latin typeface="+mn-lt"/>
              </a:rPr>
              <a:t>Reviews by star rating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reviews</c:v>
                </c:pt>
              </c:strCache>
            </c:strRef>
          </c:tx>
          <c:spPr>
            <a:solidFill>
              <a:srgbClr val="2E4A7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8CC-4B64-AB04-B69BCF728F2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8CC-4B64-AB04-B69BCF728F2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8CC-4B64-AB04-B69BCF728F2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8CC-4B64-AB04-B69BCF728F28}"/>
              </c:ext>
            </c:extLst>
          </c:dPt>
          <c:dPt>
            <c:idx val="4"/>
            <c:invertIfNegative val="0"/>
            <c:bubble3D val="0"/>
            <c:spPr>
              <a:solidFill>
                <a:srgbClr val="C77D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8CC-4B64-AB04-B69BCF728F2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 star</c:v>
                </c:pt>
                <c:pt idx="1">
                  <c:v>2 stars</c:v>
                </c:pt>
                <c:pt idx="2">
                  <c:v>3 stars</c:v>
                </c:pt>
                <c:pt idx="3">
                  <c:v>4 stars</c:v>
                </c:pt>
                <c:pt idx="4">
                  <c:v>5 stars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735</c:v>
                </c:pt>
                <c:pt idx="1">
                  <c:v>363</c:v>
                </c:pt>
                <c:pt idx="2">
                  <c:v>633</c:v>
                </c:pt>
                <c:pt idx="3">
                  <c:v>1536</c:v>
                </c:pt>
                <c:pt idx="4">
                  <c:v>6731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8CC-4B64-AB04-B69BCF728F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00"/>
        </c:scaling>
        <c:delete val="0"/>
        <c:axPos val="l"/>
        <c:majorGridlines>
          <c:spPr>
            <a:ln w="9525" cap="flat">
              <a:solidFill>
                <a:srgbClr val="DDE2E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A84"/>
                    </a:solidFill>
                    <a:latin typeface="+mn-lt"/>
                  </a:defRPr>
                </a:pPr>
                <a:r>
                  <a:rPr lang="en-IN" sz="1200" b="0" i="0" u="none" strike="noStrike">
                    <a:solidFill>
                      <a:srgbClr val="5A6A84"/>
                    </a:solidFill>
                    <a:latin typeface="+mn-lt"/>
                  </a:rPr>
                  <a:t>Number of reviews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0666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MapReduce job on Hadoop that counts how many reviews carry each star rating. The panel on the right previews the final result; the amber bar is the 5-star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in one breath: reviews are plentiful, manual summarising does not scale, so we use a distributed counting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 map one-to-one to the pipeline stages. State the scope limit early: this is a frequency analysis, not fake-review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tool has one job. Hadoop Streaming is the bridge that lets plain Python scripts act as the map and reduce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Dark boxes are the computation; the grey bands show what hosts each part. Input and output both live in HDFS; YARN schedules the map and reduce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run in the order it happened. Commands shown are the ones used to inspect and export the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chart first, then the table. 5-star ratings dominate. The denominator is 9,998, the sum of the five displayed counts; see the validation slide for the difference from 10,000.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Percentages are computed from the five displayed counts. The mean of 4.32 is derived: (1×735 + 2×363 + 3×633 + 4×1,536 + 5×6,731) ÷ 9,998. Emphasise the interpretation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job ran successfully, but the counters do not reconcile exactly with the displayed totals. The distribution is a reliable indication of the pattern, while exact counts should be confirmed from the full output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on the method: the pipeline works end to end. The first future-scope item ties back to the validation 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references for the MapReduce model, Hadoop, and the Streaming and HDFS documentation for the version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Amazon Review Rating Analysis using Hadoop MapReduce   |   Ramdeobaba University, Nagpur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A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6596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A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urse label"/>
          <p:cNvSpPr txBox="1"/>
          <p:nvPr/>
        </p:nvSpPr>
        <p:spPr>
          <a:xfrm>
            <a:off x="82296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BIG DATA ANALYTICS  |  PROJECT PRESENTATION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 sz="3200" b="1"/>
            </a:pPr>
            <a:r>
              <a:t>AirIQ: Airbnb Price Intelligence</a:t>
            </a:r>
            <a:endParaRPr lang="en-US" sz="4400" dirty="0"/>
          </a:p>
        </p:txBody>
      </p:sp>
      <p:sp>
        <p:nvSpPr>
          <p:cNvPr id="4" name="Subtitle"/>
          <p:cNvSpPr txBox="1"/>
          <p:nvPr/>
        </p:nvSpPr>
        <p:spPr>
          <a:xfrm>
            <a:off x="822960" y="3794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 sz="1500"/>
            </a:pPr>
            <a:r>
              <a:t>Multi-city rental price prediction &amp; spatial analytics using Apache Spark MLlib and Apache Cassandra</a:t>
            </a:r>
            <a:endParaRPr lang="en-US" sz="2000" dirty="0"/>
          </a:p>
        </p:txBody>
      </p:sp>
      <p:sp>
        <p:nvSpPr>
          <p:cNvPr id="5" name="Presenter details"/>
          <p:cNvSpPr txBox="1"/>
          <p:nvPr/>
        </p:nvSpPr>
        <p:spPr>
          <a:xfrm>
            <a:off x="822960" y="48920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t>Ramdeobaba University, Nagpur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t>Course: Big Data Analytics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t>Presented by: Aditya Raju Pidurkar-40</a:t>
            </a:r>
          </a:p>
          <a:p>
            <a:pPr marL="0" indent="0">
              <a:spcAft>
                <a:spcPts val="500"/>
              </a:spcAft>
              <a:buNone/>
            </a:pPr>
            <a:r>
              <a:t>                          Nidhi Singh-15</a:t>
            </a:r>
            <a:endParaRPr lang="en-US" sz="1600" dirty="0"/>
          </a:p>
        </p:txBody>
      </p:sp>
      <p:sp>
        <p:nvSpPr>
          <p:cNvPr id="6" name="Motif panel"/>
          <p:cNvSpPr/>
          <p:nvPr/>
        </p:nvSpPr>
        <p:spPr>
          <a:xfrm>
            <a:off x="8138160" y="914400"/>
            <a:ext cx="3429000" cy="5029200"/>
          </a:xfrm>
          <a:prstGeom prst="rect">
            <a:avLst/>
          </a:prstGeom>
          <a:solidFill>
            <a:srgbClr val="1D3560"/>
          </a:solidFill>
          <a:ln/>
        </p:spPr>
      </p:sp>
      <p:sp>
        <p:nvSpPr>
          <p:cNvPr id="7" name="Motif caption"/>
          <p:cNvSpPr txBox="1"/>
          <p:nvPr/>
        </p:nvSpPr>
        <p:spPr>
          <a:xfrm>
            <a:off x="836676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MARKET COVERAGE</a:t>
            </a:r>
            <a:endParaRPr lang="en-US" sz="1100" dirty="0"/>
          </a:p>
        </p:txBody>
      </p:sp>
      <p:sp>
        <p:nvSpPr>
          <p:cNvPr id="8" name="Title motif bar 1"/>
          <p:cNvSpPr/>
          <p:nvPr/>
        </p:nvSpPr>
        <p:spPr>
          <a:xfrm>
            <a:off x="8298180" y="4969814"/>
            <a:ext cx="475488" cy="37942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9" name="Title motif label 1"/>
          <p:cNvSpPr txBox="1"/>
          <p:nvPr/>
        </p:nvSpPr>
        <p:spPr>
          <a:xfrm>
            <a:off x="8206740" y="54406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London</a:t>
            </a:r>
            <a:endParaRPr lang="en-US" sz="1200" dirty="0"/>
          </a:p>
        </p:txBody>
      </p:sp>
      <p:sp>
        <p:nvSpPr>
          <p:cNvPr id="10" name="Title motif bar 2"/>
          <p:cNvSpPr/>
          <p:nvPr/>
        </p:nvSpPr>
        <p:spPr>
          <a:xfrm>
            <a:off x="8956548" y="5161850"/>
            <a:ext cx="475488" cy="18739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Title motif label 2"/>
          <p:cNvSpPr txBox="1"/>
          <p:nvPr/>
        </p:nvSpPr>
        <p:spPr>
          <a:xfrm>
            <a:off x="8865108" y="54406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Paris</a:t>
            </a:r>
            <a:endParaRPr lang="en-US" sz="1200" dirty="0"/>
          </a:p>
        </p:txBody>
      </p:sp>
      <p:sp>
        <p:nvSpPr>
          <p:cNvPr id="12" name="Title motif bar 3"/>
          <p:cNvSpPr/>
          <p:nvPr/>
        </p:nvSpPr>
        <p:spPr>
          <a:xfrm>
            <a:off x="9614916" y="5022469"/>
            <a:ext cx="475488" cy="326771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3" name="Title motif label 3"/>
          <p:cNvSpPr txBox="1"/>
          <p:nvPr/>
        </p:nvSpPr>
        <p:spPr>
          <a:xfrm>
            <a:off x="9523476" y="54406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Tokyo</a:t>
            </a:r>
            <a:endParaRPr lang="en-US" sz="1200" dirty="0"/>
          </a:p>
        </p:txBody>
      </p:sp>
      <p:sp>
        <p:nvSpPr>
          <p:cNvPr id="14" name="Title motif bar 4"/>
          <p:cNvSpPr/>
          <p:nvPr/>
        </p:nvSpPr>
        <p:spPr>
          <a:xfrm>
            <a:off x="10273284" y="4556316"/>
            <a:ext cx="475488" cy="7929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5" name="Title motif label 4"/>
          <p:cNvSpPr txBox="1"/>
          <p:nvPr/>
        </p:nvSpPr>
        <p:spPr>
          <a:xfrm>
            <a:off x="10181844" y="54406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Mumbai</a:t>
            </a:r>
            <a:endParaRPr lang="en-US" sz="1200" dirty="0"/>
          </a:p>
        </p:txBody>
      </p:sp>
      <p:sp>
        <p:nvSpPr>
          <p:cNvPr id="16" name="Title motif bar 5"/>
          <p:cNvSpPr/>
          <p:nvPr/>
        </p:nvSpPr>
        <p:spPr>
          <a:xfrm>
            <a:off x="10931652" y="1874520"/>
            <a:ext cx="475488" cy="3474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Title motif label 5"/>
          <p:cNvSpPr txBox="1"/>
          <p:nvPr/>
        </p:nvSpPr>
        <p:spPr>
          <a:xfrm>
            <a:off x="10840212" y="54406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Bengaluru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01  INTRODUCTION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Problem statement</a:t>
            </a:r>
            <a:endParaRPr lang="en-US" sz="3200" dirty="0"/>
          </a:p>
        </p:txBody>
      </p:sp>
      <p:sp>
        <p:nvSpPr>
          <p:cNvPr id="4" name="Card Background"/>
          <p:cNvSpPr/>
          <p:nvPr/>
        </p:nvSpPr>
        <p:spPr>
          <a:xfrm>
            <a:off x="640080" y="1691640"/>
            <a:ext cx="3447288" cy="434340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5" name="Icon Background circle"/>
          <p:cNvSpPr/>
          <p:nvPr/>
        </p:nvSpPr>
        <p:spPr>
          <a:xfrm>
            <a:off x="960120" y="201168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con Background" descr="Icon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975" y="2221535"/>
            <a:ext cx="357530" cy="357530"/>
          </a:xfrm>
          <a:prstGeom prst="rect">
            <a:avLst/>
          </a:prstGeom>
        </p:spPr>
      </p:pic>
      <p:sp>
        <p:nvSpPr>
          <p:cNvPr id="7" name="Heading Background"/>
          <p:cNvSpPr txBox="1"/>
          <p:nvPr/>
        </p:nvSpPr>
        <p:spPr>
          <a:xfrm>
            <a:off x="96012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Background</a:t>
            </a:r>
            <a:endParaRPr lang="en-US" sz="2200" dirty="0"/>
          </a:p>
        </p:txBody>
      </p:sp>
      <p:sp>
        <p:nvSpPr>
          <p:cNvPr id="8" name="Text Background"/>
          <p:cNvSpPr txBox="1"/>
          <p:nvPr/>
        </p:nvSpPr>
        <p:spPr>
          <a:xfrm>
            <a:off x="960120" y="3611880"/>
            <a:ext cx="28072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Short-term rental platforms such as Airbnb accumulate hundreds of thousands of listings with volatile, hyper-local nightly rates.</a:t>
            </a:r>
            <a:endParaRPr lang="en-US" sz="1700" dirty="0"/>
          </a:p>
        </p:txBody>
      </p:sp>
      <p:sp>
        <p:nvSpPr>
          <p:cNvPr id="9" name="Card Problem"/>
          <p:cNvSpPr/>
          <p:nvPr/>
        </p:nvSpPr>
        <p:spPr>
          <a:xfrm>
            <a:off x="4361688" y="1691640"/>
            <a:ext cx="3447288" cy="434340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10" name="Icon Problem circle"/>
          <p:cNvSpPr/>
          <p:nvPr/>
        </p:nvSpPr>
        <p:spPr>
          <a:xfrm>
            <a:off x="4681728" y="201168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con Problem" descr="Icon Probl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583" y="2221535"/>
            <a:ext cx="357530" cy="357530"/>
          </a:xfrm>
          <a:prstGeom prst="rect">
            <a:avLst/>
          </a:prstGeom>
        </p:spPr>
      </p:pic>
      <p:sp>
        <p:nvSpPr>
          <p:cNvPr id="12" name="Heading Problem"/>
          <p:cNvSpPr txBox="1"/>
          <p:nvPr/>
        </p:nvSpPr>
        <p:spPr>
          <a:xfrm>
            <a:off x="4681728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Problem</a:t>
            </a:r>
            <a:endParaRPr lang="en-US" sz="2200" dirty="0"/>
          </a:p>
        </p:txBody>
      </p:sp>
      <p:sp>
        <p:nvSpPr>
          <p:cNvPr id="13" name="Text Problem"/>
          <p:cNvSpPr txBox="1"/>
          <p:nvPr/>
        </p:nvSpPr>
        <p:spPr>
          <a:xfrm>
            <a:off x="4681728" y="3611880"/>
            <a:ext cx="28072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Setting fair prices manually causes empty rooms or lost revenue, single-machine tools crash on 200,000+ spatial rows, and official portals cover 0 Indian cities.</a:t>
            </a:r>
            <a:endParaRPr lang="en-US" sz="1700" dirty="0"/>
          </a:p>
        </p:txBody>
      </p:sp>
      <p:sp>
        <p:nvSpPr>
          <p:cNvPr id="14" name="Card Approach"/>
          <p:cNvSpPr/>
          <p:nvPr/>
        </p:nvSpPr>
        <p:spPr>
          <a:xfrm>
            <a:off x="8083296" y="1691640"/>
            <a:ext cx="3447288" cy="434340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15" name="Icon Approach circle"/>
          <p:cNvSpPr/>
          <p:nvPr/>
        </p:nvSpPr>
        <p:spPr>
          <a:xfrm>
            <a:off x="8403336" y="201168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Icon Approach" descr="Icon Approac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191" y="2221535"/>
            <a:ext cx="357530" cy="357530"/>
          </a:xfrm>
          <a:prstGeom prst="rect">
            <a:avLst/>
          </a:prstGeom>
        </p:spPr>
      </p:pic>
      <p:sp>
        <p:nvSpPr>
          <p:cNvPr id="17" name="Heading Approach"/>
          <p:cNvSpPr txBox="1"/>
          <p:nvPr/>
        </p:nvSpPr>
        <p:spPr>
          <a:xfrm>
            <a:off x="8403336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Approach</a:t>
            </a:r>
            <a:endParaRPr lang="en-US" sz="2200" dirty="0"/>
          </a:p>
        </p:txBody>
      </p:sp>
      <p:sp>
        <p:nvSpPr>
          <p:cNvPr id="18" name="Text Approach"/>
          <p:cNvSpPr txBox="1"/>
          <p:nvPr/>
        </p:nvSpPr>
        <p:spPr>
          <a:xfrm>
            <a:off x="8403336" y="3611880"/>
            <a:ext cx="28072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Use Apache Spark MLlib and Cassandra to process 224,098 listings in parallel, predicting fair rates in native local currencies (₹, ¥, £, €).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A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01  INTRODUCTION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Objectives and scope</a:t>
            </a:r>
            <a:endParaRPr lang="en-US" sz="3200" dirty="0"/>
          </a:p>
        </p:txBody>
      </p:sp>
      <p:sp>
        <p:nvSpPr>
          <p:cNvPr id="4" name="Objective card 1"/>
          <p:cNvSpPr/>
          <p:nvPr/>
        </p:nvSpPr>
        <p:spPr>
          <a:xfrm>
            <a:off x="640080" y="1691640"/>
            <a:ext cx="6766560" cy="7315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5" name="Objective circle 1"/>
          <p:cNvSpPr/>
          <p:nvPr/>
        </p:nvSpPr>
        <p:spPr>
          <a:xfrm>
            <a:off x="822960" y="1819656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Objective number 1"/>
          <p:cNvSpPr txBox="1"/>
          <p:nvPr/>
        </p:nvSpPr>
        <p:spPr>
          <a:xfrm>
            <a:off x="822960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Objective 1"/>
          <p:cNvSpPr txBox="1"/>
          <p:nvPr/>
        </p:nvSpPr>
        <p:spPr>
          <a:xfrm>
            <a:off x="1508760" y="16916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Ingest 224,098 listings across 7 global hubs and 2 real Indian metros (Mumbai, Bengaluru).</a:t>
            </a:r>
            <a:endParaRPr lang="en-US" sz="1700" dirty="0"/>
          </a:p>
        </p:txBody>
      </p:sp>
      <p:sp>
        <p:nvSpPr>
          <p:cNvPr id="8" name="Objective card 2"/>
          <p:cNvSpPr/>
          <p:nvPr/>
        </p:nvSpPr>
        <p:spPr>
          <a:xfrm>
            <a:off x="640080" y="2578608"/>
            <a:ext cx="6766560" cy="7315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9" name="Objective circle 2"/>
          <p:cNvSpPr/>
          <p:nvPr/>
        </p:nvSpPr>
        <p:spPr>
          <a:xfrm>
            <a:off x="822960" y="2706624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Objective number 2"/>
          <p:cNvSpPr txBox="1"/>
          <p:nvPr/>
        </p:nvSpPr>
        <p:spPr>
          <a:xfrm>
            <a:off x="822960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Objective 2"/>
          <p:cNvSpPr txBox="1"/>
          <p:nvPr/>
        </p:nvSpPr>
        <p:spPr>
          <a:xfrm>
            <a:off x="1508760" y="257860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Clean currency symbols and standardize a USD baseline for homoscedastic regression.</a:t>
            </a:r>
            <a:endParaRPr lang="en-US" sz="1700" dirty="0"/>
          </a:p>
        </p:txBody>
      </p:sp>
      <p:sp>
        <p:nvSpPr>
          <p:cNvPr id="12" name="Objective card 3"/>
          <p:cNvSpPr/>
          <p:nvPr/>
        </p:nvSpPr>
        <p:spPr>
          <a:xfrm>
            <a:off x="640080" y="3465576"/>
            <a:ext cx="6766560" cy="7315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13" name="Objective circle 3"/>
          <p:cNvSpPr/>
          <p:nvPr/>
        </p:nvSpPr>
        <p:spPr>
          <a:xfrm>
            <a:off x="822960" y="3593592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Objective number 3"/>
          <p:cNvSpPr txBox="1"/>
          <p:nvPr/>
        </p:nvSpPr>
        <p:spPr>
          <a:xfrm>
            <a:off x="822960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Objective 3"/>
          <p:cNvSpPr txBox="1"/>
          <p:nvPr/>
        </p:nvSpPr>
        <p:spPr>
          <a:xfrm>
            <a:off x="1508760" y="3465576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Train a 45-tree PySpark MLlib Random Forest Regressor across 6 core physical features.</a:t>
            </a:r>
            <a:endParaRPr lang="en-US" sz="1700" dirty="0"/>
          </a:p>
        </p:txBody>
      </p:sp>
      <p:sp>
        <p:nvSpPr>
          <p:cNvPr id="16" name="Objective card 4"/>
          <p:cNvSpPr/>
          <p:nvPr/>
        </p:nvSpPr>
        <p:spPr>
          <a:xfrm>
            <a:off x="640080" y="4352544"/>
            <a:ext cx="6766560" cy="7315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17" name="Objective circle 4"/>
          <p:cNvSpPr/>
          <p:nvPr/>
        </p:nvSpPr>
        <p:spPr>
          <a:xfrm>
            <a:off x="822960" y="4480560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Objective number 4"/>
          <p:cNvSpPr txBox="1"/>
          <p:nvPr/>
        </p:nvSpPr>
        <p:spPr>
          <a:xfrm>
            <a:off x="822960" y="4480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Objective 4"/>
          <p:cNvSpPr txBox="1"/>
          <p:nvPr/>
        </p:nvSpPr>
        <p:spPr>
          <a:xfrm>
            <a:off x="1508760" y="4352544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Store partitioned spatial records and macro statistics in Apache Cassandra (port 9042).</a:t>
            </a:r>
            <a:endParaRPr lang="en-US" sz="1700" dirty="0"/>
          </a:p>
        </p:txBody>
      </p:sp>
      <p:sp>
        <p:nvSpPr>
          <p:cNvPr id="20" name="Objective card 5"/>
          <p:cNvSpPr/>
          <p:nvPr/>
        </p:nvSpPr>
        <p:spPr>
          <a:xfrm>
            <a:off x="640080" y="5239512"/>
            <a:ext cx="6766560" cy="7315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21" name="Objective circle 5"/>
          <p:cNvSpPr/>
          <p:nvPr/>
        </p:nvSpPr>
        <p:spPr>
          <a:xfrm>
            <a:off x="822960" y="5367528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Objective number 5"/>
          <p:cNvSpPr txBox="1"/>
          <p:nvPr/>
        </p:nvSpPr>
        <p:spPr>
          <a:xfrm>
            <a:off x="822960" y="5367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Objective 5"/>
          <p:cNvSpPr txBox="1"/>
          <p:nvPr/>
        </p:nvSpPr>
        <p:spPr>
          <a:xfrm>
            <a:off x="1508760" y="523951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Provide interactive price predictions and zero-lag Leaflet marker clustering in native currencies.</a:t>
            </a:r>
            <a:endParaRPr lang="en-US" sz="1700" dirty="0"/>
          </a:p>
        </p:txBody>
      </p:sp>
      <p:sp>
        <p:nvSpPr>
          <p:cNvPr id="24" name="Scope card 1"/>
          <p:cNvSpPr/>
          <p:nvPr/>
        </p:nvSpPr>
        <p:spPr>
          <a:xfrm>
            <a:off x="7680960" y="1691640"/>
            <a:ext cx="3867912" cy="182880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25" name="Scope icon 1 circle"/>
          <p:cNvSpPr/>
          <p:nvPr/>
        </p:nvSpPr>
        <p:spPr>
          <a:xfrm>
            <a:off x="7909560" y="1892808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6" name="Scope icon 1" descr="Scope ic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004" y="2016252"/>
            <a:ext cx="210312" cy="210312"/>
          </a:xfrm>
          <a:prstGeom prst="rect">
            <a:avLst/>
          </a:prstGeom>
        </p:spPr>
      </p:pic>
      <p:sp>
        <p:nvSpPr>
          <p:cNvPr id="27" name="Scope heading 1"/>
          <p:cNvSpPr txBox="1"/>
          <p:nvPr/>
        </p:nvSpPr>
        <p:spPr>
          <a:xfrm>
            <a:off x="8549640" y="18928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Within scope</a:t>
            </a:r>
            <a:endParaRPr lang="en-US" sz="1900" dirty="0"/>
          </a:p>
        </p:txBody>
      </p:sp>
      <p:sp>
        <p:nvSpPr>
          <p:cNvPr id="28" name="Scope list 1"/>
          <p:cNvSpPr txBox="1"/>
          <p:nvPr/>
        </p:nvSpPr>
        <p:spPr>
          <a:xfrm>
            <a:off x="7909560" y="2514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t>Multi-market pricing in native local currencies (₹, ¥, £, €)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t>Interactive marker clustering without browser DOM lag</a:t>
            </a:r>
            <a:endParaRPr lang="en-US" sz="1600" dirty="0"/>
          </a:p>
          <a:p>
            <a:r>
              <a:t>Sub-millisecond NoSQL reads via partitioned Cassandra keys</a:t>
            </a:r>
          </a:p>
        </p:txBody>
      </p:sp>
      <p:sp>
        <p:nvSpPr>
          <p:cNvPr id="29" name="Scope card 2"/>
          <p:cNvSpPr/>
          <p:nvPr/>
        </p:nvSpPr>
        <p:spPr>
          <a:xfrm>
            <a:off x="7680960" y="3794760"/>
            <a:ext cx="3867912" cy="228600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30" name="Scope icon 2 circle"/>
          <p:cNvSpPr/>
          <p:nvPr/>
        </p:nvSpPr>
        <p:spPr>
          <a:xfrm>
            <a:off x="7909560" y="3995928"/>
            <a:ext cx="457200" cy="457200"/>
          </a:xfrm>
          <a:prstGeom prst="ellipse">
            <a:avLst/>
          </a:prstGeom>
          <a:solidFill>
            <a:srgbClr val="9C3D2E"/>
          </a:solidFill>
          <a:ln/>
        </p:spPr>
      </p:sp>
      <p:pic>
        <p:nvPicPr>
          <p:cNvPr id="31" name="Scope icon 2" descr="Scope ic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3004" y="4119372"/>
            <a:ext cx="210312" cy="210312"/>
          </a:xfrm>
          <a:prstGeom prst="rect">
            <a:avLst/>
          </a:prstGeom>
        </p:spPr>
      </p:pic>
      <p:sp>
        <p:nvSpPr>
          <p:cNvPr id="32" name="Scope heading 2"/>
          <p:cNvSpPr txBox="1"/>
          <p:nvPr/>
        </p:nvSpPr>
        <p:spPr>
          <a:xfrm>
            <a:off x="8549640" y="39959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Outside scope</a:t>
            </a:r>
            <a:endParaRPr lang="en-US" sz="1900" dirty="0"/>
          </a:p>
        </p:txBody>
      </p:sp>
      <p:sp>
        <p:nvSpPr>
          <p:cNvPr id="33" name="Scope list 2"/>
          <p:cNvSpPr txBox="1"/>
          <p:nvPr/>
        </p:nvSpPr>
        <p:spPr>
          <a:xfrm>
            <a:off x="7909560" y="46177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t>In-app booking payment and transaction processing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t>Host identity and guest ID verification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t>Surge pricing adjustments based on real-time live weather</a:t>
            </a:r>
            <a:endParaRPr lang="en-US" sz="16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A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02  METHODOLOGY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Technology stack</a:t>
            </a:r>
            <a:endParaRPr lang="en-US" sz="3200" dirty="0"/>
          </a:p>
        </p:txBody>
      </p:sp>
      <p:sp>
        <p:nvSpPr>
          <p:cNvPr id="4" name="Card Apache Hadoop 3.2.4"/>
          <p:cNvSpPr/>
          <p:nvPr/>
        </p:nvSpPr>
        <p:spPr>
          <a:xfrm>
            <a:off x="640080" y="1691640"/>
            <a:ext cx="3447288" cy="201168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5" name="Icon Apache Hadoop 3.2.4 circle"/>
          <p:cNvSpPr/>
          <p:nvPr/>
        </p:nvSpPr>
        <p:spPr>
          <a:xfrm>
            <a:off x="914400" y="1947672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con Apache Hadoop 3.2.4" descr="Icon Apache Hadoop 3.2.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471" y="2100743"/>
            <a:ext cx="260787" cy="260787"/>
          </a:xfrm>
          <a:prstGeom prst="rect">
            <a:avLst/>
          </a:prstGeom>
        </p:spPr>
      </p:pic>
      <p:sp>
        <p:nvSpPr>
          <p:cNvPr id="7" name="Name Apache Hadoop 3.2.4"/>
          <p:cNvSpPr txBox="1"/>
          <p:nvPr/>
        </p:nvSpPr>
        <p:spPr>
          <a:xfrm>
            <a:off x="1645920" y="19476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Apache Spark 4.2</a:t>
            </a:r>
            <a:endParaRPr lang="en-US" sz="1900" dirty="0"/>
          </a:p>
        </p:txBody>
      </p:sp>
      <p:sp>
        <p:nvSpPr>
          <p:cNvPr id="8" name="Role Apache Hadoop 3.2.4"/>
          <p:cNvSpPr txBox="1"/>
          <p:nvPr/>
        </p:nvSpPr>
        <p:spPr>
          <a:xfrm>
            <a:off x="91440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Distributed in-memory compute engine for parallel DataFrame transformations and MLlib regression.</a:t>
            </a:r>
            <a:endParaRPr lang="en-US" sz="1500" dirty="0"/>
          </a:p>
        </p:txBody>
      </p:sp>
      <p:sp>
        <p:nvSpPr>
          <p:cNvPr id="9" name="Card HDFS"/>
          <p:cNvSpPr/>
          <p:nvPr/>
        </p:nvSpPr>
        <p:spPr>
          <a:xfrm>
            <a:off x="4361688" y="1691640"/>
            <a:ext cx="3447288" cy="201168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10" name="Icon HDFS circle"/>
          <p:cNvSpPr/>
          <p:nvPr/>
        </p:nvSpPr>
        <p:spPr>
          <a:xfrm>
            <a:off x="4636008" y="1947672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con HDFS" descr="Icon HDF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079" y="2100743"/>
            <a:ext cx="260787" cy="260787"/>
          </a:xfrm>
          <a:prstGeom prst="rect">
            <a:avLst/>
          </a:prstGeom>
        </p:spPr>
      </p:pic>
      <p:sp>
        <p:nvSpPr>
          <p:cNvPr id="12" name="Name HDFS"/>
          <p:cNvSpPr txBox="1"/>
          <p:nvPr/>
        </p:nvSpPr>
        <p:spPr>
          <a:xfrm>
            <a:off x="5367528" y="19476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Apache Cassandra 4.1</a:t>
            </a:r>
            <a:endParaRPr lang="en-US" sz="1900" dirty="0"/>
          </a:p>
        </p:txBody>
      </p:sp>
      <p:sp>
        <p:nvSpPr>
          <p:cNvPr id="13" name="Role HDFS"/>
          <p:cNvSpPr txBox="1"/>
          <p:nvPr/>
        </p:nvSpPr>
        <p:spPr>
          <a:xfrm>
            <a:off x="4636008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Distributed masterless NoSQL database providing sub-millisecond queries via partitioned keyspaces.</a:t>
            </a:r>
            <a:endParaRPr lang="en-US" sz="1500" dirty="0"/>
          </a:p>
        </p:txBody>
      </p:sp>
      <p:sp>
        <p:nvSpPr>
          <p:cNvPr id="14" name="Card MapReduce"/>
          <p:cNvSpPr/>
          <p:nvPr/>
        </p:nvSpPr>
        <p:spPr>
          <a:xfrm>
            <a:off x="8083296" y="1691640"/>
            <a:ext cx="3447288" cy="201168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15" name="Icon MapReduce circle"/>
          <p:cNvSpPr/>
          <p:nvPr/>
        </p:nvSpPr>
        <p:spPr>
          <a:xfrm>
            <a:off x="8357616" y="1947672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Icon MapReduce" descr="Icon MapRedu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687" y="2100743"/>
            <a:ext cx="260787" cy="260787"/>
          </a:xfrm>
          <a:prstGeom prst="rect">
            <a:avLst/>
          </a:prstGeom>
        </p:spPr>
      </p:pic>
      <p:sp>
        <p:nvSpPr>
          <p:cNvPr id="17" name="Name MapReduce"/>
          <p:cNvSpPr txBox="1"/>
          <p:nvPr/>
        </p:nvSpPr>
        <p:spPr>
          <a:xfrm>
            <a:off x="9089136" y="19476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PySpark MLlib</a:t>
            </a:r>
            <a:endParaRPr lang="en-US" sz="1900" dirty="0"/>
          </a:p>
        </p:txBody>
      </p:sp>
      <p:sp>
        <p:nvSpPr>
          <p:cNvPr id="18" name="Role MapReduce"/>
          <p:cNvSpPr txBox="1"/>
          <p:nvPr/>
        </p:nvSpPr>
        <p:spPr>
          <a:xfrm>
            <a:off x="8357616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Parallel Random Forest regressor with VectorAssembler trained on 224,098 listings.</a:t>
            </a:r>
            <a:endParaRPr lang="en-US" sz="1500" dirty="0"/>
          </a:p>
        </p:txBody>
      </p:sp>
      <p:sp>
        <p:nvSpPr>
          <p:cNvPr id="19" name="Card Hadoop Streaming"/>
          <p:cNvSpPr/>
          <p:nvPr/>
        </p:nvSpPr>
        <p:spPr>
          <a:xfrm>
            <a:off x="640080" y="3886200"/>
            <a:ext cx="3447288" cy="201168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20" name="Icon Hadoop Streaming circle"/>
          <p:cNvSpPr/>
          <p:nvPr/>
        </p:nvSpPr>
        <p:spPr>
          <a:xfrm>
            <a:off x="914400" y="4142232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Icon Hadoop Streaming" descr="Icon Hadoop Stream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471" y="4295303"/>
            <a:ext cx="260787" cy="260787"/>
          </a:xfrm>
          <a:prstGeom prst="rect">
            <a:avLst/>
          </a:prstGeom>
        </p:spPr>
      </p:pic>
      <p:sp>
        <p:nvSpPr>
          <p:cNvPr id="22" name="Name Hadoop Streaming"/>
          <p:cNvSpPr txBox="1"/>
          <p:nvPr/>
        </p:nvSpPr>
        <p:spPr>
          <a:xfrm>
            <a:off x="1645920" y="41422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FastAPI (Python)</a:t>
            </a:r>
            <a:endParaRPr lang="en-US" sz="1900" dirty="0"/>
          </a:p>
        </p:txBody>
      </p:sp>
      <p:sp>
        <p:nvSpPr>
          <p:cNvPr id="23" name="Role Hadoop Streaming"/>
          <p:cNvSpPr txBox="1"/>
          <p:nvPr/>
        </p:nvSpPr>
        <p:spPr>
          <a:xfrm>
            <a:off x="914400" y="4892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Asynchronous ASGI microservice on port 8001 executing in-memory Spark tree traversal in &lt; 15ms.</a:t>
            </a:r>
            <a:endParaRPr lang="en-US" sz="1500" dirty="0"/>
          </a:p>
        </p:txBody>
      </p:sp>
      <p:sp>
        <p:nvSpPr>
          <p:cNvPr id="24" name="Card YARN"/>
          <p:cNvSpPr/>
          <p:nvPr/>
        </p:nvSpPr>
        <p:spPr>
          <a:xfrm>
            <a:off x="4361688" y="3886200"/>
            <a:ext cx="3447288" cy="201168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25" name="Icon YARN circle"/>
          <p:cNvSpPr/>
          <p:nvPr/>
        </p:nvSpPr>
        <p:spPr>
          <a:xfrm>
            <a:off x="4636008" y="4142232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con YARN" descr="Icon YAR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9079" y="4295303"/>
            <a:ext cx="260787" cy="260787"/>
          </a:xfrm>
          <a:prstGeom prst="rect">
            <a:avLst/>
          </a:prstGeom>
        </p:spPr>
      </p:pic>
      <p:sp>
        <p:nvSpPr>
          <p:cNvPr id="27" name="Name YARN"/>
          <p:cNvSpPr txBox="1"/>
          <p:nvPr/>
        </p:nvSpPr>
        <p:spPr>
          <a:xfrm>
            <a:off x="5367528" y="41422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React 19 + Vite</a:t>
            </a:r>
            <a:endParaRPr lang="en-US" sz="1900" dirty="0"/>
          </a:p>
        </p:txBody>
      </p:sp>
      <p:sp>
        <p:nvSpPr>
          <p:cNvPr id="28" name="Role YARN"/>
          <p:cNvSpPr txBox="1"/>
          <p:nvPr/>
        </p:nvSpPr>
        <p:spPr>
          <a:xfrm>
            <a:off x="4636008" y="4892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Modern reactive frontend with React-Leaflet and Leaflet MarkerCluster for zero DOM lag.</a:t>
            </a:r>
            <a:endParaRPr lang="en-US" sz="1500" dirty="0"/>
          </a:p>
        </p:txBody>
      </p:sp>
      <p:sp>
        <p:nvSpPr>
          <p:cNvPr id="29" name="Card Python"/>
          <p:cNvSpPr/>
          <p:nvPr/>
        </p:nvSpPr>
        <p:spPr>
          <a:xfrm>
            <a:off x="8083296" y="3886200"/>
            <a:ext cx="3447288" cy="201168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30" name="Icon Python circle"/>
          <p:cNvSpPr/>
          <p:nvPr/>
        </p:nvSpPr>
        <p:spPr>
          <a:xfrm>
            <a:off x="8357616" y="4142232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Icon Python" descr="Icon Pyth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0687" y="4295303"/>
            <a:ext cx="260787" cy="260787"/>
          </a:xfrm>
          <a:prstGeom prst="rect">
            <a:avLst/>
          </a:prstGeom>
        </p:spPr>
      </p:pic>
      <p:sp>
        <p:nvSpPr>
          <p:cNvPr id="32" name="Name Python"/>
          <p:cNvSpPr txBox="1"/>
          <p:nvPr/>
        </p:nvSpPr>
        <p:spPr>
          <a:xfrm>
            <a:off x="9089136" y="41422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Python 3.14</a:t>
            </a:r>
            <a:endParaRPr lang="en-US" sz="1900" dirty="0"/>
          </a:p>
        </p:txBody>
      </p:sp>
      <p:sp>
        <p:nvSpPr>
          <p:cNvPr id="33" name="Role Python"/>
          <p:cNvSpPr txBox="1"/>
          <p:nvPr/>
        </p:nvSpPr>
        <p:spPr>
          <a:xfrm>
            <a:off x="8357616" y="4892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Core programming language powering data pipelines, CQL drivers, and automated evaluation.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A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02  METHODOLOGY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System architecture and workflow</a:t>
            </a:r>
            <a:endParaRPr lang="en-US" sz="3200" dirty="0"/>
          </a:p>
        </p:txBody>
      </p:sp>
      <p:sp>
        <p:nvSpPr>
          <p:cNvPr id="4" name="Stage 1"/>
          <p:cNvSpPr/>
          <p:nvPr/>
        </p:nvSpPr>
        <p:spPr>
          <a:xfrm>
            <a:off x="640080" y="1691640"/>
            <a:ext cx="1554480" cy="196596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5" name="Stage icon 1 circle"/>
          <p:cNvSpPr/>
          <p:nvPr/>
        </p:nvSpPr>
        <p:spPr>
          <a:xfrm>
            <a:off x="1143000" y="19202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Stage icon 1" descr="Stage ic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133" y="2068373"/>
            <a:ext cx="252374" cy="252374"/>
          </a:xfrm>
          <a:prstGeom prst="rect">
            <a:avLst/>
          </a:prstGeom>
        </p:spPr>
      </p:pic>
      <p:sp>
        <p:nvSpPr>
          <p:cNvPr id="7" name="Stage 1 name"/>
          <p:cNvSpPr txBox="1"/>
          <p:nvPr/>
        </p:nvSpPr>
        <p:spPr>
          <a:xfrm>
            <a:off x="713232" y="260604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Raw Datasets</a:t>
            </a:r>
            <a:endParaRPr lang="en-US" sz="1600" dirty="0"/>
          </a:p>
        </p:txBody>
      </p:sp>
      <p:sp>
        <p:nvSpPr>
          <p:cNvPr id="8" name="Stage 1 detail"/>
          <p:cNvSpPr txBox="1"/>
          <p:nvPr/>
        </p:nvSpPr>
        <p:spPr>
          <a:xfrm>
            <a:off x="713232" y="306324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224,098 listings</a:t>
            </a:r>
            <a:endParaRPr lang="en-US" sz="1400" dirty="0"/>
          </a:p>
        </p:txBody>
      </p:sp>
      <p:sp>
        <p:nvSpPr>
          <p:cNvPr id="9" name="Arrow 1"/>
          <p:cNvSpPr/>
          <p:nvPr/>
        </p:nvSpPr>
        <p:spPr>
          <a:xfrm>
            <a:off x="2221992" y="2674620"/>
            <a:ext cx="26151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Stage 2"/>
          <p:cNvSpPr/>
          <p:nvPr/>
        </p:nvSpPr>
        <p:spPr>
          <a:xfrm>
            <a:off x="2510942" y="1691640"/>
            <a:ext cx="1554480" cy="196596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11" name="Stage icon 2 circle"/>
          <p:cNvSpPr/>
          <p:nvPr/>
        </p:nvSpPr>
        <p:spPr>
          <a:xfrm>
            <a:off x="3013862" y="19202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Stage icon 2" descr="Stage ic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1995" y="2068373"/>
            <a:ext cx="252374" cy="252374"/>
          </a:xfrm>
          <a:prstGeom prst="rect">
            <a:avLst/>
          </a:prstGeom>
        </p:spPr>
      </p:pic>
      <p:sp>
        <p:nvSpPr>
          <p:cNvPr id="13" name="Stage 2 name"/>
          <p:cNvSpPr txBox="1"/>
          <p:nvPr/>
        </p:nvSpPr>
        <p:spPr>
          <a:xfrm>
            <a:off x="2584094" y="260604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PySpark ETL</a:t>
            </a:r>
            <a:endParaRPr lang="en-US" sz="1600" dirty="0"/>
          </a:p>
        </p:txBody>
      </p:sp>
      <p:sp>
        <p:nvSpPr>
          <p:cNvPr id="14" name="Stage 2 detail"/>
          <p:cNvSpPr txBox="1"/>
          <p:nvPr/>
        </p:nvSpPr>
        <p:spPr>
          <a:xfrm>
            <a:off x="2584094" y="306324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Clean &amp; normalize</a:t>
            </a:r>
            <a:endParaRPr lang="en-US" sz="1400" dirty="0"/>
          </a:p>
        </p:txBody>
      </p:sp>
      <p:sp>
        <p:nvSpPr>
          <p:cNvPr id="15" name="Arrow 2"/>
          <p:cNvSpPr/>
          <p:nvPr/>
        </p:nvSpPr>
        <p:spPr>
          <a:xfrm>
            <a:off x="4092854" y="2674620"/>
            <a:ext cx="26151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Stage 3"/>
          <p:cNvSpPr/>
          <p:nvPr/>
        </p:nvSpPr>
        <p:spPr>
          <a:xfrm>
            <a:off x="4381805" y="1691640"/>
            <a:ext cx="1554480" cy="1965960"/>
          </a:xfrm>
          <a:prstGeom prst="rect">
            <a:avLst/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17" name="Stage icon 3 circle"/>
          <p:cNvSpPr/>
          <p:nvPr/>
        </p:nvSpPr>
        <p:spPr>
          <a:xfrm>
            <a:off x="4884725" y="19202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Stage icon 3" descr="Stage ic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858" y="2068373"/>
            <a:ext cx="252374" cy="252374"/>
          </a:xfrm>
          <a:prstGeom prst="rect">
            <a:avLst/>
          </a:prstGeom>
        </p:spPr>
      </p:pic>
      <p:sp>
        <p:nvSpPr>
          <p:cNvPr id="19" name="Stage 3 name"/>
          <p:cNvSpPr txBox="1"/>
          <p:nvPr/>
        </p:nvSpPr>
        <p:spPr>
          <a:xfrm>
            <a:off x="4454957" y="260604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MLlib Pipeline</a:t>
            </a:r>
            <a:endParaRPr lang="en-US" sz="1600" dirty="0"/>
          </a:p>
        </p:txBody>
      </p:sp>
      <p:sp>
        <p:nvSpPr>
          <p:cNvPr id="20" name="Stage 3 detail"/>
          <p:cNvSpPr txBox="1"/>
          <p:nvPr/>
        </p:nvSpPr>
        <p:spPr>
          <a:xfrm>
            <a:off x="4454957" y="306324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Random Forest</a:t>
            </a:r>
            <a:endParaRPr lang="en-US" sz="1400" dirty="0"/>
          </a:p>
        </p:txBody>
      </p:sp>
      <p:sp>
        <p:nvSpPr>
          <p:cNvPr id="21" name="Arrow 3"/>
          <p:cNvSpPr/>
          <p:nvPr/>
        </p:nvSpPr>
        <p:spPr>
          <a:xfrm>
            <a:off x="5963717" y="2674620"/>
            <a:ext cx="26151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Stage 4"/>
          <p:cNvSpPr/>
          <p:nvPr/>
        </p:nvSpPr>
        <p:spPr>
          <a:xfrm>
            <a:off x="6252667" y="1691640"/>
            <a:ext cx="1554480" cy="1965960"/>
          </a:xfrm>
          <a:prstGeom prst="rect">
            <a:avLst/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23" name="Stage icon 4 circle"/>
          <p:cNvSpPr/>
          <p:nvPr/>
        </p:nvSpPr>
        <p:spPr>
          <a:xfrm>
            <a:off x="6755587" y="19202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Stage icon 4" descr="Stage ico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2068373"/>
            <a:ext cx="252374" cy="252374"/>
          </a:xfrm>
          <a:prstGeom prst="rect">
            <a:avLst/>
          </a:prstGeom>
        </p:spPr>
      </p:pic>
      <p:sp>
        <p:nvSpPr>
          <p:cNvPr id="25" name="Stage 4 name"/>
          <p:cNvSpPr txBox="1"/>
          <p:nvPr/>
        </p:nvSpPr>
        <p:spPr>
          <a:xfrm>
            <a:off x="6325819" y="260604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Cassandra Sink</a:t>
            </a:r>
            <a:endParaRPr lang="en-US" sz="1600" dirty="0"/>
          </a:p>
        </p:txBody>
      </p:sp>
      <p:sp>
        <p:nvSpPr>
          <p:cNvPr id="26" name="Stage 4 detail"/>
          <p:cNvSpPr txBox="1"/>
          <p:nvPr/>
        </p:nvSpPr>
        <p:spPr>
          <a:xfrm>
            <a:off x="6325819" y="306324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NoSQL partitions</a:t>
            </a:r>
            <a:endParaRPr lang="en-US" sz="1400" dirty="0"/>
          </a:p>
        </p:txBody>
      </p:sp>
      <p:sp>
        <p:nvSpPr>
          <p:cNvPr id="27" name="Arrow 4"/>
          <p:cNvSpPr/>
          <p:nvPr/>
        </p:nvSpPr>
        <p:spPr>
          <a:xfrm>
            <a:off x="7834579" y="2674620"/>
            <a:ext cx="26151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8" name="Stage 5"/>
          <p:cNvSpPr/>
          <p:nvPr/>
        </p:nvSpPr>
        <p:spPr>
          <a:xfrm>
            <a:off x="8123530" y="1691640"/>
            <a:ext cx="1554480" cy="1965960"/>
          </a:xfrm>
          <a:prstGeom prst="rect">
            <a:avLst/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29" name="Stage icon 5 circle"/>
          <p:cNvSpPr/>
          <p:nvPr/>
        </p:nvSpPr>
        <p:spPr>
          <a:xfrm>
            <a:off x="8626450" y="19202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Stage icon 5" descr="Stage icon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4582" y="2068373"/>
            <a:ext cx="252374" cy="252374"/>
          </a:xfrm>
          <a:prstGeom prst="rect">
            <a:avLst/>
          </a:prstGeom>
        </p:spPr>
      </p:pic>
      <p:sp>
        <p:nvSpPr>
          <p:cNvPr id="31" name="Stage 5 name"/>
          <p:cNvSpPr txBox="1"/>
          <p:nvPr/>
        </p:nvSpPr>
        <p:spPr>
          <a:xfrm>
            <a:off x="8196682" y="260604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FastAPI Engine</a:t>
            </a:r>
            <a:endParaRPr lang="en-US" sz="1600" dirty="0"/>
          </a:p>
        </p:txBody>
      </p:sp>
      <p:sp>
        <p:nvSpPr>
          <p:cNvPr id="32" name="Stage 5 detail"/>
          <p:cNvSpPr txBox="1"/>
          <p:nvPr/>
        </p:nvSpPr>
        <p:spPr>
          <a:xfrm>
            <a:off x="8196682" y="306324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In-memory trees</a:t>
            </a:r>
            <a:endParaRPr lang="en-US" sz="1400" dirty="0"/>
          </a:p>
        </p:txBody>
      </p:sp>
      <p:sp>
        <p:nvSpPr>
          <p:cNvPr id="33" name="Arrow 5"/>
          <p:cNvSpPr/>
          <p:nvPr/>
        </p:nvSpPr>
        <p:spPr>
          <a:xfrm>
            <a:off x="9705442" y="2674620"/>
            <a:ext cx="26151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4" name="Stage 6"/>
          <p:cNvSpPr/>
          <p:nvPr/>
        </p:nvSpPr>
        <p:spPr>
          <a:xfrm>
            <a:off x="9994392" y="1691640"/>
            <a:ext cx="1554480" cy="196596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35" name="Stage icon 6 circle"/>
          <p:cNvSpPr/>
          <p:nvPr/>
        </p:nvSpPr>
        <p:spPr>
          <a:xfrm>
            <a:off x="10497312" y="19202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6" name="Stage icon 6" descr="Stage icon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5445" y="2068373"/>
            <a:ext cx="252374" cy="252374"/>
          </a:xfrm>
          <a:prstGeom prst="rect">
            <a:avLst/>
          </a:prstGeom>
        </p:spPr>
      </p:pic>
      <p:sp>
        <p:nvSpPr>
          <p:cNvPr id="37" name="Stage 6 name"/>
          <p:cNvSpPr txBox="1"/>
          <p:nvPr/>
        </p:nvSpPr>
        <p:spPr>
          <a:xfrm>
            <a:off x="10067544" y="260604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React Frontend</a:t>
            </a:r>
            <a:endParaRPr lang="en-US" sz="1600" dirty="0"/>
          </a:p>
        </p:txBody>
      </p:sp>
      <p:sp>
        <p:nvSpPr>
          <p:cNvPr id="38" name="Stage 6 detail"/>
          <p:cNvSpPr txBox="1"/>
          <p:nvPr/>
        </p:nvSpPr>
        <p:spPr>
          <a:xfrm>
            <a:off x="10067544" y="306324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Maps &amp; pricing</a:t>
            </a:r>
            <a:endParaRPr lang="en-US" sz="1400" dirty="0"/>
          </a:p>
        </p:txBody>
      </p:sp>
      <p:sp>
        <p:nvSpPr>
          <p:cNvPr id="39" name="Lane input"/>
          <p:cNvSpPr/>
          <p:nvPr/>
        </p:nvSpPr>
        <p:spPr>
          <a:xfrm>
            <a:off x="2510942" y="3840480"/>
            <a:ext cx="1554480" cy="5486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0" name="Lane input label"/>
          <p:cNvSpPr txBox="1"/>
          <p:nvPr/>
        </p:nvSpPr>
        <p:spPr>
          <a:xfrm>
            <a:off x="2510942" y="3840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Storage: Local FS / HDFS</a:t>
            </a:r>
            <a:endParaRPr lang="en-US" sz="1500" dirty="0"/>
          </a:p>
        </p:txBody>
      </p:sp>
      <p:sp>
        <p:nvSpPr>
          <p:cNvPr id="41" name="Lane execution"/>
          <p:cNvSpPr/>
          <p:nvPr/>
        </p:nvSpPr>
        <p:spPr>
          <a:xfrm>
            <a:off x="4381805" y="3840480"/>
            <a:ext cx="5296205" cy="5486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2" name="Lane execution label"/>
          <p:cNvSpPr txBox="1"/>
          <p:nvPr/>
        </p:nvSpPr>
        <p:spPr>
          <a:xfrm>
            <a:off x="4381805" y="3840480"/>
            <a:ext cx="529620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Execution: PySpark 4.2 MLlib &amp; Uvicorn ASGI</a:t>
            </a:r>
            <a:endParaRPr lang="en-US" sz="1500" dirty="0"/>
          </a:p>
        </p:txBody>
      </p:sp>
      <p:sp>
        <p:nvSpPr>
          <p:cNvPr id="43" name="Lane output"/>
          <p:cNvSpPr/>
          <p:nvPr/>
        </p:nvSpPr>
        <p:spPr>
          <a:xfrm>
            <a:off x="9994392" y="3840480"/>
            <a:ext cx="1554480" cy="5486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4" name="Lane output label"/>
          <p:cNvSpPr txBox="1"/>
          <p:nvPr/>
        </p:nvSpPr>
        <p:spPr>
          <a:xfrm>
            <a:off x="9994392" y="3840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Storage: Apache Cassandra (Port 9042)</a:t>
            </a:r>
            <a:endParaRPr lang="en-US" sz="1500" dirty="0"/>
          </a:p>
        </p:txBody>
      </p:sp>
      <p:sp>
        <p:nvSpPr>
          <p:cNvPr id="45" name="Flow card"/>
          <p:cNvSpPr/>
          <p:nvPr/>
        </p:nvSpPr>
        <p:spPr>
          <a:xfrm>
            <a:off x="640080" y="4754880"/>
            <a:ext cx="5349240" cy="132588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46" name="Flow text"/>
          <p:cNvSpPr txBox="1"/>
          <p:nvPr/>
        </p:nvSpPr>
        <p:spPr>
          <a:xfrm>
            <a:off x="914400" y="491947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t>Conceptual flow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t>input CSVs → PySpark ETL → MLlib Random Forest → Cassandra sink → FastAPI &amp; React</a:t>
            </a:r>
            <a:endParaRPr lang="en-US" sz="1600" dirty="0"/>
          </a:p>
        </p:txBody>
      </p:sp>
      <p:sp>
        <p:nvSpPr>
          <p:cNvPr id="47" name="Export card"/>
          <p:cNvSpPr/>
          <p:nvPr/>
        </p:nvSpPr>
        <p:spPr>
          <a:xfrm>
            <a:off x="6199632" y="4754880"/>
            <a:ext cx="5349240" cy="132588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48" name="Export text"/>
          <p:cNvSpPr txBox="1"/>
          <p:nvPr/>
        </p:nvSpPr>
        <p:spPr>
          <a:xfrm>
            <a:off x="6473952" y="491947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t>Output serving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t>Trained 45-tree model and Cassandra partitioned tables serve real-time predictions in &lt; 15ms.</a:t>
            </a:r>
            <a:endParaRPr lang="en-US" sz="16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A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02  METHODOLOGY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Implementation and execution</a:t>
            </a:r>
            <a:endParaRPr lang="en-US" sz="3200" dirty="0"/>
          </a:p>
        </p:txBody>
      </p:sp>
      <p:sp>
        <p:nvSpPr>
          <p:cNvPr id="4" name="Environment card"/>
          <p:cNvSpPr/>
          <p:nvPr/>
        </p:nvSpPr>
        <p:spPr>
          <a:xfrm>
            <a:off x="640080" y="1691640"/>
            <a:ext cx="5212080" cy="434340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graphicFrame>
        <p:nvGraphicFramePr>
          <p:cNvPr id="8" name="Environ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28800"/>
          <a:ext cx="4937760" cy="38404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t>Platform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Linux (x86_64)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t>Framework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Apache Spark 4.2 + Apache Cassandra 4.1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t>Language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Python 3.14 + React 19 (JavaScript)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t>Execution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Distributed Spark Worker &amp; FastAPI ASGI (Uvicorn)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t>Datasets Input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Inside Airbnb (7 hubs) + DoorstepAnalytics (India)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t>Storage Sink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Cassandra keyspace airbnb_intelligence (port 9042)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tep card 1"/>
          <p:cNvSpPr/>
          <p:nvPr/>
        </p:nvSpPr>
        <p:spPr>
          <a:xfrm>
            <a:off x="6126480" y="1691640"/>
            <a:ext cx="5422392" cy="7315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7" name="Step circle 1"/>
          <p:cNvSpPr/>
          <p:nvPr/>
        </p:nvSpPr>
        <p:spPr>
          <a:xfrm>
            <a:off x="6309360" y="1819656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Step number 1"/>
          <p:cNvSpPr txBox="1"/>
          <p:nvPr/>
        </p:nvSpPr>
        <p:spPr>
          <a:xfrm>
            <a:off x="6309360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tep 1"/>
          <p:cNvSpPr txBox="1"/>
          <p:nvPr/>
        </p:nvSpPr>
        <p:spPr>
          <a:xfrm>
            <a:off x="6949440" y="16916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Load 213,299 Inside Airbnb &amp; 10,834 DoorstepAnalytics CSVs into PySpark</a:t>
            </a:r>
            <a:endParaRPr lang="en-US" sz="1600" dirty="0"/>
          </a:p>
        </p:txBody>
      </p:sp>
      <p:sp>
        <p:nvSpPr>
          <p:cNvPr id="10" name="Step card 2"/>
          <p:cNvSpPr/>
          <p:nvPr/>
        </p:nvSpPr>
        <p:spPr>
          <a:xfrm>
            <a:off x="6126480" y="2578608"/>
            <a:ext cx="5422392" cy="7315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11" name="Step circle 2"/>
          <p:cNvSpPr/>
          <p:nvPr/>
        </p:nvSpPr>
        <p:spPr>
          <a:xfrm>
            <a:off x="6309360" y="2706624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Step number 2"/>
          <p:cNvSpPr txBox="1"/>
          <p:nvPr/>
        </p:nvSpPr>
        <p:spPr>
          <a:xfrm>
            <a:off x="6309360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tep 2"/>
          <p:cNvSpPr txBox="1"/>
          <p:nvPr/>
        </p:nvSpPr>
        <p:spPr>
          <a:xfrm>
            <a:off x="6949440" y="257860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Clean prices, impute null ratings with medians, and derive price_usd</a:t>
            </a:r>
            <a:endParaRPr lang="en-US" sz="1600" dirty="0"/>
          </a:p>
        </p:txBody>
      </p:sp>
      <p:sp>
        <p:nvSpPr>
          <p:cNvPr id="14" name="Step card 3"/>
          <p:cNvSpPr/>
          <p:nvPr/>
        </p:nvSpPr>
        <p:spPr>
          <a:xfrm>
            <a:off x="6126480" y="3465576"/>
            <a:ext cx="5422392" cy="7315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15" name="Step circle 3"/>
          <p:cNvSpPr/>
          <p:nvPr/>
        </p:nvSpPr>
        <p:spPr>
          <a:xfrm>
            <a:off x="6309360" y="3593592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Step number 3"/>
          <p:cNvSpPr txBox="1"/>
          <p:nvPr/>
        </p:nvSpPr>
        <p:spPr>
          <a:xfrm>
            <a:off x="6309360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Step 3"/>
          <p:cNvSpPr txBox="1"/>
          <p:nvPr/>
        </p:nvSpPr>
        <p:spPr>
          <a:xfrm>
            <a:off x="6949440" y="3465576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Train 45-tree Random Forest Regressor (max depth 9) on 80% train split</a:t>
            </a:r>
            <a:endParaRPr lang="en-US" sz="1600" dirty="0"/>
          </a:p>
        </p:txBody>
      </p:sp>
      <p:sp>
        <p:nvSpPr>
          <p:cNvPr id="18" name="Step card 4"/>
          <p:cNvSpPr/>
          <p:nvPr/>
        </p:nvSpPr>
        <p:spPr>
          <a:xfrm>
            <a:off x="6126480" y="4352544"/>
            <a:ext cx="5422392" cy="7315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19" name="Step circle 4"/>
          <p:cNvSpPr/>
          <p:nvPr/>
        </p:nvSpPr>
        <p:spPr>
          <a:xfrm>
            <a:off x="6309360" y="4480560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Step number 4"/>
          <p:cNvSpPr txBox="1"/>
          <p:nvPr/>
        </p:nvSpPr>
        <p:spPr>
          <a:xfrm>
            <a:off x="6309360" y="4480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Step 4"/>
          <p:cNvSpPr txBox="1"/>
          <p:nvPr/>
        </p:nvSpPr>
        <p:spPr>
          <a:xfrm>
            <a:off x="6949440" y="435254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Batch-insert city summaries and spatial listings into Apache Cassandra</a:t>
            </a:r>
            <a:endParaRPr lang="en-US" sz="1600" dirty="0"/>
          </a:p>
        </p:txBody>
      </p:sp>
      <p:sp>
        <p:nvSpPr>
          <p:cNvPr id="22" name="Step card 5"/>
          <p:cNvSpPr/>
          <p:nvPr/>
        </p:nvSpPr>
        <p:spPr>
          <a:xfrm>
            <a:off x="6126480" y="5239512"/>
            <a:ext cx="5422392" cy="7315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23" name="Step circle 5"/>
          <p:cNvSpPr/>
          <p:nvPr/>
        </p:nvSpPr>
        <p:spPr>
          <a:xfrm>
            <a:off x="6309360" y="5367528"/>
            <a:ext cx="475488" cy="47548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Step number 5"/>
          <p:cNvSpPr txBox="1"/>
          <p:nvPr/>
        </p:nvSpPr>
        <p:spPr>
          <a:xfrm>
            <a:off x="6309360" y="5367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Step 5"/>
          <p:cNvSpPr txBox="1"/>
          <p:nvPr/>
        </p:nvSpPr>
        <p:spPr>
          <a:xfrm>
            <a:off x="6949440" y="523951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Launch FastAPI backend on port 8001 with pre-loaded in-memory Spark trees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A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03  RESULTS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Observed dataset distribution across markets</a:t>
            </a:r>
            <a:endParaRPr lang="en-US" sz="3200" dirty="0"/>
          </a:p>
        </p:txBody>
      </p:sp>
      <p:sp>
        <p:nvSpPr>
          <p:cNvPr id="4" name="Chart card"/>
          <p:cNvSpPr/>
          <p:nvPr/>
        </p:nvSpPr>
        <p:spPr>
          <a:xfrm>
            <a:off x="640080" y="1691640"/>
            <a:ext cx="6720840" cy="43891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graphicFrame>
        <p:nvGraphicFramePr>
          <p:cNvPr id="5" name="Rating distribution chart"/>
          <p:cNvGraphicFramePr/>
          <p:nvPr/>
        </p:nvGraphicFramePr>
        <p:xfrm>
          <a:off x="777240" y="1783080"/>
          <a:ext cx="6446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Rating cou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691640"/>
          <a:ext cx="3913632" cy="35204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t>Market Destination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Listings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Average Rate (Local Currency)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t>London (United Kingdom)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59,690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£227.95 GBP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t>Paris (France)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43,286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€299.30 EUR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t>Rome (Italy)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33,846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€237.18 EUR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t>Tokyo (Japan)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33,535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¥27,207.16 JPY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t>New York City (USA)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19,299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$280.60 USD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t>Bengaluru &amp; Mumbai (India)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10,834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₹2,783 / ₹5,706 INR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able note"/>
          <p:cNvSpPr txBox="1"/>
          <p:nvPr/>
        </p:nvSpPr>
        <p:spPr>
          <a:xfrm>
            <a:off x="7635240" y="5440680"/>
            <a:ext cx="3913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Total = 224,098 verified listings across 7 official Inside Airbnb global hubs and 2 real Indian metros.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A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03  RESULTS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Analysis of the results</a:t>
            </a:r>
            <a:endParaRPr lang="en-US" sz="3200" dirty="0"/>
          </a:p>
        </p:txBody>
      </p:sp>
      <p:sp>
        <p:nvSpPr>
          <p:cNvPr id="4" name="Stat card 1"/>
          <p:cNvSpPr/>
          <p:nvPr/>
        </p:nvSpPr>
        <p:spPr>
          <a:xfrm>
            <a:off x="640080" y="1691640"/>
            <a:ext cx="2532888" cy="2011680"/>
          </a:xfrm>
          <a:prstGeom prst="rect">
            <a:avLst/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5" name="Statistic 1"/>
          <p:cNvSpPr txBox="1"/>
          <p:nvPr/>
        </p:nvSpPr>
        <p:spPr>
          <a:xfrm>
            <a:off x="86868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224,098</a:t>
            </a:r>
            <a:endParaRPr lang="en-US" sz="4200" dirty="0"/>
          </a:p>
        </p:txBody>
      </p:sp>
      <p:sp>
        <p:nvSpPr>
          <p:cNvPr id="6" name="Statistic label 1"/>
          <p:cNvSpPr txBox="1"/>
          <p:nvPr/>
        </p:nvSpPr>
        <p:spPr>
          <a:xfrm>
            <a:off x="868680" y="27432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Total listings</a:t>
            </a:r>
            <a:endParaRPr lang="en-US" sz="1500" dirty="0"/>
          </a:p>
          <a:p>
            <a:pPr marL="0" indent="0">
              <a:buNone/>
            </a:pPr>
            <a:r>
              <a:t>Ingested &amp; modeled</a:t>
            </a:r>
            <a:endParaRPr lang="en-US" sz="1500" dirty="0"/>
          </a:p>
        </p:txBody>
      </p:sp>
      <p:sp>
        <p:nvSpPr>
          <p:cNvPr id="7" name="Stat card 2"/>
          <p:cNvSpPr/>
          <p:nvPr/>
        </p:nvSpPr>
        <p:spPr>
          <a:xfrm>
            <a:off x="3431743" y="1691640"/>
            <a:ext cx="2532888" cy="201168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8" name="Statistic 2"/>
          <p:cNvSpPr txBox="1"/>
          <p:nvPr/>
        </p:nvSpPr>
        <p:spPr>
          <a:xfrm>
            <a:off x="3660343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35.1%</a:t>
            </a:r>
            <a:endParaRPr lang="en-US" sz="4200" dirty="0"/>
          </a:p>
        </p:txBody>
      </p:sp>
      <p:sp>
        <p:nvSpPr>
          <p:cNvPr id="9" name="Statistic label 2"/>
          <p:cNvSpPr txBox="1"/>
          <p:nvPr/>
        </p:nvSpPr>
        <p:spPr>
          <a:xfrm>
            <a:off x="3660343" y="27432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Error reduction</a:t>
            </a:r>
            <a:endParaRPr lang="en-US" sz="1500" dirty="0"/>
          </a:p>
          <a:p>
            <a:pPr marL="0" indent="0">
              <a:buNone/>
            </a:pPr>
            <a:r>
              <a:t>vs OLS baseline</a:t>
            </a:r>
            <a:endParaRPr lang="en-US" sz="1500" dirty="0"/>
          </a:p>
        </p:txBody>
      </p:sp>
      <p:sp>
        <p:nvSpPr>
          <p:cNvPr id="10" name="Stat card 3"/>
          <p:cNvSpPr/>
          <p:nvPr/>
        </p:nvSpPr>
        <p:spPr>
          <a:xfrm>
            <a:off x="6223406" y="1691640"/>
            <a:ext cx="2532888" cy="201168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11" name="Statistic 3"/>
          <p:cNvSpPr txBox="1"/>
          <p:nvPr/>
        </p:nvSpPr>
        <p:spPr>
          <a:xfrm>
            <a:off x="6452006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$209.98</a:t>
            </a:r>
            <a:endParaRPr lang="en-US" sz="4200" dirty="0"/>
          </a:p>
        </p:txBody>
      </p:sp>
      <p:sp>
        <p:nvSpPr>
          <p:cNvPr id="12" name="Statistic label 3"/>
          <p:cNvSpPr txBox="1"/>
          <p:nvPr/>
        </p:nvSpPr>
        <p:spPr>
          <a:xfrm>
            <a:off x="6452006" y="27432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Test RMSE</a:t>
            </a:r>
            <a:endParaRPr lang="en-US" sz="1500" dirty="0"/>
          </a:p>
          <a:p>
            <a:pPr marL="0" indent="0">
              <a:buNone/>
            </a:pPr>
            <a:r>
              <a:t>44,272 test records</a:t>
            </a:r>
            <a:endParaRPr lang="en-US" sz="1500" dirty="0"/>
          </a:p>
        </p:txBody>
      </p:sp>
      <p:sp>
        <p:nvSpPr>
          <p:cNvPr id="13" name="Stat card 4"/>
          <p:cNvSpPr/>
          <p:nvPr/>
        </p:nvSpPr>
        <p:spPr>
          <a:xfrm>
            <a:off x="9015070" y="1691640"/>
            <a:ext cx="2532888" cy="201168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14" name="Statistic 4"/>
          <p:cNvSpPr txBox="1"/>
          <p:nvPr/>
        </p:nvSpPr>
        <p:spPr>
          <a:xfrm>
            <a:off x="924367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0.3659</a:t>
            </a:r>
            <a:endParaRPr lang="en-US" sz="4200" dirty="0"/>
          </a:p>
        </p:txBody>
      </p:sp>
      <p:sp>
        <p:nvSpPr>
          <p:cNvPr id="15" name="Statistic label 4"/>
          <p:cNvSpPr txBox="1"/>
          <p:nvPr/>
        </p:nvSpPr>
        <p:spPr>
          <a:xfrm>
            <a:off x="9243670" y="27432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R² Score</a:t>
            </a:r>
            <a:endParaRPr lang="en-US" sz="1500" dirty="0"/>
          </a:p>
          <a:p>
            <a:pPr marL="0" indent="0">
              <a:buNone/>
            </a:pPr>
            <a:r>
              <a:t>45 trees, depth 9</a:t>
            </a:r>
            <a:endParaRPr lang="en-US" sz="1500" dirty="0"/>
          </a:p>
        </p:txBody>
      </p:sp>
      <p:sp>
        <p:nvSpPr>
          <p:cNvPr id="16" name="Interpretation card"/>
          <p:cNvSpPr/>
          <p:nvPr/>
        </p:nvSpPr>
        <p:spPr>
          <a:xfrm>
            <a:off x="640080" y="3977640"/>
            <a:ext cx="10908792" cy="21031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17" name="Interpretation heading"/>
          <p:cNvSpPr txBox="1"/>
          <p:nvPr/>
        </p:nvSpPr>
        <p:spPr>
          <a:xfrm>
            <a:off x="96012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Interpretation</a:t>
            </a:r>
            <a:endParaRPr lang="en-US" sz="2000" dirty="0"/>
          </a:p>
        </p:txBody>
      </p:sp>
      <p:sp>
        <p:nvSpPr>
          <p:cNvPr id="18" name="Interpretation list"/>
          <p:cNvSpPr txBox="1"/>
          <p:nvPr/>
        </p:nvSpPr>
        <p:spPr>
          <a:xfrm>
            <a:off x="960120" y="4617720"/>
            <a:ext cx="10268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t>The Random Forest model explains 36.6% of global price variance across 9 diverse cities, reducing RMSE by 35.1% over standard OLS baselines ($323.37).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t>Accommodates (guest capacity) and bedrooms are the primary price drivers, accounting for 62.2% of total feature importance.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t>Native currency calibration ensures domestic purchasing power (₹ INR in India, ¥ JPY in Japan) is preserved without exchange distortion.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A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03  RESULTS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System validation and deployment metrics</a:t>
            </a:r>
            <a:endParaRPr lang="en-US" sz="3200" dirty="0"/>
          </a:p>
        </p:txBody>
      </p:sp>
      <p:graphicFrame>
        <p:nvGraphicFramePr>
          <p:cNvPr id="11" name="Job counte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212080" cy="43891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t>AirIQ Component Summary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 / Value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FastAPI Backend Status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Active (Port 8001)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Apache Cassandra Cluster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UN - Up/Normal (Port 9042)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Spark MLlib Trees Loaded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45 Trees (In-Memory)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Prediction Latency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&lt; 15 ms per request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Map Pin Clustering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Zero DOM lag (react-leaflet-cluster)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Indian Metros Covered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Mumbai &amp; Bengaluru (Real INR)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t>Total Listings Ingested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224,098 records</a:t>
                      </a: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servations heading"/>
          <p:cNvSpPr txBox="1"/>
          <p:nvPr/>
        </p:nvSpPr>
        <p:spPr>
          <a:xfrm>
            <a:off x="612648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Key system validations</a:t>
            </a:r>
            <a:endParaRPr lang="en-US" sz="2000" dirty="0"/>
          </a:p>
        </p:txBody>
      </p:sp>
      <p:sp>
        <p:nvSpPr>
          <p:cNvPr id="6" name="Observation card 1"/>
          <p:cNvSpPr/>
          <p:nvPr/>
        </p:nvSpPr>
        <p:spPr>
          <a:xfrm>
            <a:off x="6126480" y="2194560"/>
            <a:ext cx="5422392" cy="676656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7" name="Observation circle 1"/>
          <p:cNvSpPr/>
          <p:nvPr/>
        </p:nvSpPr>
        <p:spPr>
          <a:xfrm>
            <a:off x="6291072" y="23042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Observation number 1"/>
          <p:cNvSpPr txBox="1"/>
          <p:nvPr/>
        </p:nvSpPr>
        <p:spPr>
          <a:xfrm>
            <a:off x="6291072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1</a:t>
            </a:r>
            <a:endParaRPr lang="en-US" sz="1700" dirty="0"/>
          </a:p>
        </p:txBody>
      </p:sp>
      <p:sp>
        <p:nvSpPr>
          <p:cNvPr id="9" name="Observation 1"/>
          <p:cNvSpPr txBox="1"/>
          <p:nvPr/>
        </p:nvSpPr>
        <p:spPr>
          <a:xfrm>
            <a:off x="6903720" y="2194560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All 14,000 spatial coordinates were validated to fall within land boundaries (no water pins).</a:t>
            </a:r>
            <a:endParaRPr lang="en-US" sz="1400" dirty="0"/>
          </a:p>
        </p:txBody>
      </p:sp>
      <p:sp>
        <p:nvSpPr>
          <p:cNvPr id="10" name="Observation card 2"/>
          <p:cNvSpPr/>
          <p:nvPr/>
        </p:nvSpPr>
        <p:spPr>
          <a:xfrm>
            <a:off x="6126480" y="2999232"/>
            <a:ext cx="5422392" cy="676656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4" name="Observation circle 2"/>
          <p:cNvSpPr/>
          <p:nvPr/>
        </p:nvSpPr>
        <p:spPr>
          <a:xfrm>
            <a:off x="6291072" y="3108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Observation number 2"/>
          <p:cNvSpPr txBox="1"/>
          <p:nvPr/>
        </p:nvSpPr>
        <p:spPr>
          <a:xfrm>
            <a:off x="6291072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Observation 2"/>
          <p:cNvSpPr txBox="1"/>
          <p:nvPr/>
        </p:nvSpPr>
        <p:spPr>
          <a:xfrm>
            <a:off x="6903720" y="2999232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FastAPI pre-loads decision tree nodes into memory, avoiding PySpark JVM execution overhead during inference.</a:t>
            </a:r>
            <a:endParaRPr lang="en-US" sz="1400" dirty="0"/>
          </a:p>
        </p:txBody>
      </p:sp>
      <p:sp>
        <p:nvSpPr>
          <p:cNvPr id="14" name="Observation card 3"/>
          <p:cNvSpPr/>
          <p:nvPr/>
        </p:nvSpPr>
        <p:spPr>
          <a:xfrm>
            <a:off x="6126480" y="3803904"/>
            <a:ext cx="5422392" cy="676656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15" name="Observation circle 3"/>
          <p:cNvSpPr/>
          <p:nvPr/>
        </p:nvSpPr>
        <p:spPr>
          <a:xfrm>
            <a:off x="6291072" y="391363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Observation number 3"/>
          <p:cNvSpPr txBox="1"/>
          <p:nvPr/>
        </p:nvSpPr>
        <p:spPr>
          <a:xfrm>
            <a:off x="6291072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17" name="Observation 3"/>
          <p:cNvSpPr txBox="1"/>
          <p:nvPr/>
        </p:nvSpPr>
        <p:spPr>
          <a:xfrm>
            <a:off x="6903720" y="3803904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Leaflet marker clustering dynamically aggregates hundreds of dense pins into interactive badges.</a:t>
            </a:r>
            <a:endParaRPr lang="en-US" sz="1400" dirty="0"/>
          </a:p>
        </p:txBody>
      </p:sp>
      <p:sp>
        <p:nvSpPr>
          <p:cNvPr id="18" name="Verification card"/>
          <p:cNvSpPr/>
          <p:nvPr/>
        </p:nvSpPr>
        <p:spPr>
          <a:xfrm>
            <a:off x="6126480" y="4663440"/>
            <a:ext cx="5422392" cy="1371600"/>
          </a:xfrm>
          <a:prstGeom prst="rect">
            <a:avLst/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19" name="Verification text"/>
          <p:cNvSpPr txBox="1"/>
          <p:nvPr/>
        </p:nvSpPr>
        <p:spPr>
          <a:xfrm>
            <a:off x="6382512" y="480060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t>Deployment verification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t>The full stack (Cassandra + FastAPI + React) runs smoothly on Kali Linux with sub-second response times.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A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04  CONCLUSION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Conclusion and future scope</a:t>
            </a:r>
            <a:endParaRPr lang="en-US" sz="3200" dirty="0"/>
          </a:p>
        </p:txBody>
      </p:sp>
      <p:sp>
        <p:nvSpPr>
          <p:cNvPr id="4" name="Conclusion card"/>
          <p:cNvSpPr/>
          <p:nvPr/>
        </p:nvSpPr>
        <p:spPr>
          <a:xfrm>
            <a:off x="640080" y="1691640"/>
            <a:ext cx="5349240" cy="4389120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5" name="Conclusion heading"/>
          <p:cNvSpPr txBox="1"/>
          <p:nvPr/>
        </p:nvSpPr>
        <p:spPr>
          <a:xfrm>
            <a:off x="96012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Conclusion</a:t>
            </a:r>
            <a:endParaRPr lang="en-US" sz="2100" dirty="0"/>
          </a:p>
        </p:txBody>
      </p:sp>
      <p:sp>
        <p:nvSpPr>
          <p:cNvPr id="6" name="Conclusion text"/>
          <p:cNvSpPr txBox="1"/>
          <p:nvPr/>
        </p:nvSpPr>
        <p:spPr>
          <a:xfrm>
            <a:off x="960120" y="242316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The project successfully demonstrates how 224,098 short-term rental listings can be harmonized, stored, and modeled using Apache Spark MLlib, Cassandra NoSQL, and React 19 to provide accurate, multi-currency price intelligence.</a:t>
            </a:r>
            <a:endParaRPr lang="en-US" sz="1600" dirty="0"/>
          </a:p>
        </p:txBody>
      </p:sp>
      <p:sp>
        <p:nvSpPr>
          <p:cNvPr id="7" name="Outcomes heading"/>
          <p:cNvSpPr txBox="1"/>
          <p:nvPr/>
        </p:nvSpPr>
        <p:spPr>
          <a:xfrm>
            <a:off x="96012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Learning outcomes</a:t>
            </a:r>
            <a:endParaRPr lang="en-US" sz="1800" dirty="0"/>
          </a:p>
        </p:txBody>
      </p:sp>
      <p:sp>
        <p:nvSpPr>
          <p:cNvPr id="8" name="Outcomes list"/>
          <p:cNvSpPr txBox="1"/>
          <p:nvPr/>
        </p:nvSpPr>
        <p:spPr>
          <a:xfrm>
            <a:off x="960120" y="429768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t>Distributed data engineering with PySpark DataFrames and Data Types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t>PySpark MLlib Random Forest Regressor and VectorAssembler pipelines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t>Apache Cassandra partitioned keyspaces and CQL query optimization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t>Multi-currency normalization and de-normalization strategies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t>Full-stack integration using async FastAPI and Leaflet marker clustering</a:t>
            </a:r>
            <a:endParaRPr lang="en-US" sz="1500" dirty="0"/>
          </a:p>
        </p:txBody>
      </p:sp>
      <p:sp>
        <p:nvSpPr>
          <p:cNvPr id="9" name="Future scope card"/>
          <p:cNvSpPr/>
          <p:nvPr/>
        </p:nvSpPr>
        <p:spPr>
          <a:xfrm>
            <a:off x="6199632" y="1691640"/>
            <a:ext cx="5349240" cy="4389120"/>
          </a:xfrm>
          <a:prstGeom prst="rect">
            <a:avLst/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10" name="Future scope heading"/>
          <p:cNvSpPr txBox="1"/>
          <p:nvPr/>
        </p:nvSpPr>
        <p:spPr>
          <a:xfrm>
            <a:off x="6519672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Future scope</a:t>
            </a:r>
            <a:endParaRPr lang="en-US" sz="2100" dirty="0"/>
          </a:p>
        </p:txBody>
      </p:sp>
      <p:sp>
        <p:nvSpPr>
          <p:cNvPr id="11" name="Future scope list"/>
          <p:cNvSpPr txBox="1"/>
          <p:nvPr/>
        </p:nvSpPr>
        <p:spPr>
          <a:xfrm>
            <a:off x="6519672" y="246888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t>Integrate Apache Kafka for real-time streaming of calendar price changes.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t>Add Deep Learning (CNNs / Vision Transformers) to score interior listing photos.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t>Incorporate NLP sentiment analysis on guest reviews for pricing multipliers.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t>Deploy automated CI/CD retraining using MLflow on quarterly Inside Airbnb releases.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A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ag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04  CONCLUSION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t>References</a:t>
            </a:r>
            <a:endParaRPr lang="en-US" sz="3200" dirty="0"/>
          </a:p>
        </p:txBody>
      </p:sp>
      <p:sp>
        <p:nvSpPr>
          <p:cNvPr id="4" name="Reference card 1"/>
          <p:cNvSpPr/>
          <p:nvPr/>
        </p:nvSpPr>
        <p:spPr>
          <a:xfrm>
            <a:off x="640080" y="1691640"/>
            <a:ext cx="10908792" cy="950976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5" name="Reference number 1"/>
          <p:cNvSpPr txBox="1"/>
          <p:nvPr/>
        </p:nvSpPr>
        <p:spPr>
          <a:xfrm>
            <a:off x="914400" y="1691640"/>
            <a:ext cx="640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[1]</a:t>
            </a:r>
            <a:endParaRPr lang="en-US" sz="1700" dirty="0"/>
          </a:p>
        </p:txBody>
      </p:sp>
      <p:sp>
        <p:nvSpPr>
          <p:cNvPr id="6" name="Reference 1"/>
          <p:cNvSpPr txBox="1"/>
          <p:nvPr/>
        </p:nvSpPr>
        <p:spPr>
          <a:xfrm>
            <a:off x="1645920" y="1691640"/>
            <a:ext cx="96286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Apache Spark Documentation, "MLlib: Main Guide - Random Forest Regression," spark.apache.org/docs/latest/ml-classification-regression.html, 2026.</a:t>
            </a:r>
            <a:endParaRPr lang="en-US" sz="1600" dirty="0"/>
          </a:p>
        </p:txBody>
      </p:sp>
      <p:sp>
        <p:nvSpPr>
          <p:cNvPr id="7" name="Reference card 2"/>
          <p:cNvSpPr/>
          <p:nvPr/>
        </p:nvSpPr>
        <p:spPr>
          <a:xfrm>
            <a:off x="640080" y="2807208"/>
            <a:ext cx="10908792" cy="950976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8" name="Reference number 2"/>
          <p:cNvSpPr txBox="1"/>
          <p:nvPr/>
        </p:nvSpPr>
        <p:spPr>
          <a:xfrm>
            <a:off x="914400" y="2807208"/>
            <a:ext cx="640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[2]</a:t>
            </a:r>
            <a:endParaRPr lang="en-US" sz="1700" dirty="0"/>
          </a:p>
        </p:txBody>
      </p:sp>
      <p:sp>
        <p:nvSpPr>
          <p:cNvPr id="9" name="Reference 2"/>
          <p:cNvSpPr txBox="1"/>
          <p:nvPr/>
        </p:nvSpPr>
        <p:spPr>
          <a:xfrm>
            <a:off x="1645920" y="2807208"/>
            <a:ext cx="96286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Apache Cassandra Documentation, "Architecture &amp; Data Modeling with Partition Keys," cassandra.apache.org/doc/latest/, 2026.</a:t>
            </a:r>
            <a:endParaRPr lang="en-US" sz="1600" dirty="0"/>
          </a:p>
        </p:txBody>
      </p:sp>
      <p:sp>
        <p:nvSpPr>
          <p:cNvPr id="10" name="Reference card 3"/>
          <p:cNvSpPr/>
          <p:nvPr/>
        </p:nvSpPr>
        <p:spPr>
          <a:xfrm>
            <a:off x="640080" y="3922776"/>
            <a:ext cx="10908792" cy="950976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11" name="Reference number 3"/>
          <p:cNvSpPr txBox="1"/>
          <p:nvPr/>
        </p:nvSpPr>
        <p:spPr>
          <a:xfrm>
            <a:off x="914400" y="3922776"/>
            <a:ext cx="640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[3]</a:t>
            </a:r>
            <a:endParaRPr lang="en-US" sz="1700" dirty="0"/>
          </a:p>
        </p:txBody>
      </p:sp>
      <p:sp>
        <p:nvSpPr>
          <p:cNvPr id="12" name="Reference 3"/>
          <p:cNvSpPr txBox="1"/>
          <p:nvPr/>
        </p:nvSpPr>
        <p:spPr>
          <a:xfrm>
            <a:off x="1645920" y="3922776"/>
            <a:ext cx="96286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Inside Airbnb, "Adding data to the debate - Open Housing and Rental Data," insideairbnb.com/get-the-data/, 2026.</a:t>
            </a:r>
            <a:endParaRPr lang="en-US" sz="1600" dirty="0"/>
          </a:p>
        </p:txBody>
      </p:sp>
      <p:sp>
        <p:nvSpPr>
          <p:cNvPr id="13" name="Reference card 4"/>
          <p:cNvSpPr/>
          <p:nvPr/>
        </p:nvSpPr>
        <p:spPr>
          <a:xfrm>
            <a:off x="640080" y="5038344"/>
            <a:ext cx="10908792" cy="950976"/>
          </a:xfrm>
          <a:prstGeom prst="rect">
            <a:avLst/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16284A">
                <a:alpha val="14000"/>
              </a:srgbClr>
            </a:outerShdw>
          </a:effectLst>
        </p:spPr>
      </p:sp>
      <p:sp>
        <p:nvSpPr>
          <p:cNvPr id="14" name="Reference number 4"/>
          <p:cNvSpPr txBox="1"/>
          <p:nvPr/>
        </p:nvSpPr>
        <p:spPr>
          <a:xfrm>
            <a:off x="914400" y="5038344"/>
            <a:ext cx="640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[4]</a:t>
            </a:r>
            <a:endParaRPr lang="en-US" sz="1700" dirty="0"/>
          </a:p>
        </p:txBody>
      </p:sp>
      <p:sp>
        <p:nvSpPr>
          <p:cNvPr id="15" name="Reference 4"/>
          <p:cNvSpPr txBox="1"/>
          <p:nvPr/>
        </p:nvSpPr>
        <p:spPr>
          <a:xfrm>
            <a:off x="1645920" y="5038344"/>
            <a:ext cx="96286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J. Chen and K. Xie, "Consumer valuation of Airbnb listings: a hedonic pricing approach," International Journal of Contemporary Hospitality Management, vol. 29, no. 9, 2017.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447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A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 sz="4000" b="1"/>
            </a:pPr>
            <a:r>
              <a:t>Thank you</a:t>
            </a:r>
            <a:endParaRPr lang="en-US" sz="4400" dirty="0"/>
          </a:p>
        </p:txBody>
      </p:sp>
      <p:sp>
        <p:nvSpPr>
          <p:cNvPr id="3" name="Closing subtitle"/>
          <p:cNvSpPr txBox="1"/>
          <p:nvPr/>
        </p:nvSpPr>
        <p:spPr>
          <a:xfrm>
            <a:off x="82296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 sz="1800"/>
            </a:pPr>
            <a:r>
              <a:t>Questions and discussion</a:t>
            </a:r>
            <a:endParaRPr lang="en-US" sz="2600" dirty="0"/>
          </a:p>
        </p:txBody>
      </p:sp>
      <p:sp>
        <p:nvSpPr>
          <p:cNvPr id="4" name="Project name"/>
          <p:cNvSpPr txBox="1"/>
          <p:nvPr/>
        </p:nvSpPr>
        <p:spPr>
          <a:xfrm>
            <a:off x="822960" y="5074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 sz="1500" b="1"/>
            </a:pPr>
            <a:r>
              <a:t>AirIQ: Multi-City Airbnb Price Intelligence Platform</a:t>
            </a:r>
            <a:endParaRPr lang="en-US" sz="1700" dirty="0"/>
          </a:p>
        </p:txBody>
      </p:sp>
      <p:sp>
        <p:nvSpPr>
          <p:cNvPr id="5" name="University"/>
          <p:cNvSpPr txBox="1"/>
          <p:nvPr/>
        </p:nvSpPr>
        <p:spPr>
          <a:xfrm>
            <a:off x="822960" y="5532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 sz="1300"/>
            </a:pPr>
            <a:r>
              <a:t>Aditya Raju Pidurkar-40  |  Nidhi Singh-15</a:t>
            </a:r>
            <a:br/>
            <a:r>
              <a:t>Ramdeobaba University, Nagpur</a:t>
            </a:r>
            <a:endParaRPr lang="en-US" sz="1500" dirty="0"/>
          </a:p>
        </p:txBody>
      </p:sp>
      <p:sp>
        <p:nvSpPr>
          <p:cNvPr id="6" name="Motif panel"/>
          <p:cNvSpPr/>
          <p:nvPr/>
        </p:nvSpPr>
        <p:spPr>
          <a:xfrm>
            <a:off x="8138160" y="914400"/>
            <a:ext cx="3429000" cy="5029200"/>
          </a:xfrm>
          <a:prstGeom prst="rect">
            <a:avLst/>
          </a:prstGeom>
          <a:solidFill>
            <a:srgbClr val="1D3560"/>
          </a:solidFill>
          <a:ln/>
        </p:spPr>
      </p:sp>
      <p:sp>
        <p:nvSpPr>
          <p:cNvPr id="7" name="Motif caption"/>
          <p:cNvSpPr txBox="1"/>
          <p:nvPr/>
        </p:nvSpPr>
        <p:spPr>
          <a:xfrm>
            <a:off x="836676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t>MARKET COVERAGE</a:t>
            </a:r>
            <a:endParaRPr lang="en-US" sz="1100" dirty="0"/>
          </a:p>
        </p:txBody>
      </p:sp>
      <p:sp>
        <p:nvSpPr>
          <p:cNvPr id="8" name="Closing motif bar 1"/>
          <p:cNvSpPr/>
          <p:nvPr/>
        </p:nvSpPr>
        <p:spPr>
          <a:xfrm>
            <a:off x="8298180" y="4969814"/>
            <a:ext cx="475488" cy="37942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9" name="Closing motif label 1"/>
          <p:cNvSpPr txBox="1"/>
          <p:nvPr/>
        </p:nvSpPr>
        <p:spPr>
          <a:xfrm>
            <a:off x="8206740" y="54406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London</a:t>
            </a:r>
            <a:endParaRPr lang="en-US" sz="1200" dirty="0"/>
          </a:p>
        </p:txBody>
      </p:sp>
      <p:sp>
        <p:nvSpPr>
          <p:cNvPr id="10" name="Closing motif bar 2"/>
          <p:cNvSpPr/>
          <p:nvPr/>
        </p:nvSpPr>
        <p:spPr>
          <a:xfrm>
            <a:off x="8956548" y="5161850"/>
            <a:ext cx="475488" cy="18739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Closing motif label 2"/>
          <p:cNvSpPr txBox="1"/>
          <p:nvPr/>
        </p:nvSpPr>
        <p:spPr>
          <a:xfrm>
            <a:off x="8865108" y="54406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Paris</a:t>
            </a:r>
            <a:endParaRPr lang="en-US" sz="1200" dirty="0"/>
          </a:p>
        </p:txBody>
      </p:sp>
      <p:sp>
        <p:nvSpPr>
          <p:cNvPr id="12" name="Closing motif bar 3"/>
          <p:cNvSpPr/>
          <p:nvPr/>
        </p:nvSpPr>
        <p:spPr>
          <a:xfrm>
            <a:off x="9614916" y="5022469"/>
            <a:ext cx="475488" cy="326771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3" name="Closing motif label 3"/>
          <p:cNvSpPr txBox="1"/>
          <p:nvPr/>
        </p:nvSpPr>
        <p:spPr>
          <a:xfrm>
            <a:off x="9523476" y="54406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Tokyo</a:t>
            </a:r>
            <a:endParaRPr lang="en-US" sz="1200" dirty="0"/>
          </a:p>
        </p:txBody>
      </p:sp>
      <p:sp>
        <p:nvSpPr>
          <p:cNvPr id="14" name="Closing motif bar 4"/>
          <p:cNvSpPr/>
          <p:nvPr/>
        </p:nvSpPr>
        <p:spPr>
          <a:xfrm>
            <a:off x="10273284" y="4556316"/>
            <a:ext cx="475488" cy="7929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5" name="Closing motif label 4"/>
          <p:cNvSpPr txBox="1"/>
          <p:nvPr/>
        </p:nvSpPr>
        <p:spPr>
          <a:xfrm>
            <a:off x="10181844" y="54406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Mumbai</a:t>
            </a:r>
            <a:endParaRPr lang="en-US" sz="1200" dirty="0"/>
          </a:p>
        </p:txBody>
      </p:sp>
      <p:sp>
        <p:nvSpPr>
          <p:cNvPr id="16" name="Closing motif bar 5"/>
          <p:cNvSpPr/>
          <p:nvPr/>
        </p:nvSpPr>
        <p:spPr>
          <a:xfrm>
            <a:off x="10931652" y="1874520"/>
            <a:ext cx="475488" cy="3474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Closing motif label 5"/>
          <p:cNvSpPr txBox="1"/>
          <p:nvPr/>
        </p:nvSpPr>
        <p:spPr>
          <a:xfrm>
            <a:off x="10840212" y="54406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t>Bengaluru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 Navy">
  <a:themeElements>
    <a:clrScheme name="Academic Navy">
      <a:dk1>
        <a:srgbClr val="1F2933"/>
      </a:dk1>
      <a:lt1>
        <a:srgbClr val="FFFFFF"/>
      </a:lt1>
      <a:dk2>
        <a:srgbClr val="16284A"/>
      </a:dk2>
      <a:lt2>
        <a:srgbClr val="EEF1F6"/>
      </a:lt2>
      <a:accent1>
        <a:srgbClr val="16284A"/>
      </a:accent1>
      <a:accent2>
        <a:srgbClr val="C77D1A"/>
      </a:accent2>
      <a:accent3>
        <a:srgbClr val="5A6A84"/>
      </a:accent3>
      <a:accent4>
        <a:srgbClr val="B8C2D3"/>
      </a:accent4>
      <a:accent5>
        <a:srgbClr val="2E4A7D"/>
      </a:accent5>
      <a:accent6>
        <a:srgbClr val="9C3D2E"/>
      </a:accent6>
      <a:hlink>
        <a:srgbClr val="2E4A7D"/>
      </a:hlink>
      <a:folHlink>
        <a:srgbClr val="5A6A84"/>
      </a:folHlink>
    </a:clrScheme>
    <a:fontScheme name="Academic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1358</Words>
  <Application>Microsoft Office PowerPoint</Application>
  <PresentationFormat>Widescreen</PresentationFormat>
  <Paragraphs>238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Academic Navy</vt:lpstr>
      <vt:lpstr>Amazon Review Rating Analysis</vt:lpstr>
      <vt:lpstr>Problem statement</vt:lpstr>
      <vt:lpstr>Objectives and scope</vt:lpstr>
      <vt:lpstr>Technology stack</vt:lpstr>
      <vt:lpstr>System architecture and workflow</vt:lpstr>
      <vt:lpstr>Implementation and execution</vt:lpstr>
      <vt:lpstr>Observed rating distribution</vt:lpstr>
      <vt:lpstr>Analysis of the results</vt:lpstr>
      <vt:lpstr>Validation and limitations</vt:lpstr>
      <vt:lpstr>Conclusion and future scope</vt:lpstr>
      <vt:lpstr>References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Review Rating Analysis using Hadoop MapReduce</dc:title>
  <dc:subject>PptxGenJS Presentation</dc:subject>
  <dc:creator>Big Data Analytics Project</dc:creator>
  <cp:lastModifiedBy>Shraddha Agrawal</cp:lastModifiedBy>
  <cp:revision>2</cp:revision>
  <dcterms:created xsi:type="dcterms:W3CDTF">2026-10-22T07:57:01Z</dcterms:created>
  <dcterms:modified xsi:type="dcterms:W3CDTF">2026-10-22T08:11:25Z</dcterms:modified>
</cp:coreProperties>
</file>